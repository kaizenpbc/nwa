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998200"/>
  <p:notesSz cx="6858000" cy="9144000"/>
  <p:embeddedFontLst>
    <p:embeddedFont>
      <p:font typeface="Martel Sans" panose="020B0604020202020204" charset="0"/>
      <p:regular r:id="rId15"/>
    </p:embeddedFont>
    <p:embeddedFont>
      <p:font typeface="Martel Sans Bold" panose="020B0604020202020204" charset="0"/>
      <p:regular r:id="rId16"/>
    </p:embeddedFont>
    <p:embeddedFont>
      <p:font typeface="Martel Sans Light" panose="020B0604020202020204" charset="0"/>
      <p:regular r:id="rId17"/>
    </p:embeddedFont>
    <p:embeddedFont>
      <p:font typeface="ฟ้อนต์" panose="020B0604020202020204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B0605-4FD6-4630-8906-09450B5DCC60}" v="64" dt="2026-03-20T14:02:01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min Savnerkar" userId="S::jaymin.savnerkar@sapphiresolutions.net::1a600787-ac21-47d7-9260-df5080143df3" providerId="AD" clId="Web-{63FB0605-4FD6-4630-8906-09450B5DCC60}"/>
    <pc:docChg chg="modSld">
      <pc:chgData name="Jaymin Savnerkar" userId="S::jaymin.savnerkar@sapphiresolutions.net::1a600787-ac21-47d7-9260-df5080143df3" providerId="AD" clId="Web-{63FB0605-4FD6-4630-8906-09450B5DCC60}" dt="2026-03-20T14:02:01.529" v="54" actId="14100"/>
      <pc:docMkLst>
        <pc:docMk/>
      </pc:docMkLst>
      <pc:sldChg chg="modSp">
        <pc:chgData name="Jaymin Savnerkar" userId="S::jaymin.savnerkar@sapphiresolutions.net::1a600787-ac21-47d7-9260-df5080143df3" providerId="AD" clId="Web-{63FB0605-4FD6-4630-8906-09450B5DCC60}" dt="2026-03-20T13:57:02.170" v="2" actId="1076"/>
        <pc:sldMkLst>
          <pc:docMk/>
          <pc:sldMk cId="0" sldId="256"/>
        </pc:sldMkLst>
        <pc:spChg chg="mod">
          <ac:chgData name="Jaymin Savnerkar" userId="S::jaymin.savnerkar@sapphiresolutions.net::1a600787-ac21-47d7-9260-df5080143df3" providerId="AD" clId="Web-{63FB0605-4FD6-4630-8906-09450B5DCC60}" dt="2026-03-20T13:56:52.623" v="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7:02.170" v="2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3:57:34.904" v="13" actId="1076"/>
        <pc:sldMkLst>
          <pc:docMk/>
          <pc:sldMk cId="0" sldId="257"/>
        </pc:sldMkLst>
        <pc:spChg chg="mod">
          <ac:chgData name="Jaymin Savnerkar" userId="S::jaymin.savnerkar@sapphiresolutions.net::1a600787-ac21-47d7-9260-df5080143df3" providerId="AD" clId="Web-{63FB0605-4FD6-4630-8906-09450B5DCC60}" dt="2026-03-20T13:57:34.904" v="13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7:24.592" v="12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3:58:14.811" v="20" actId="1076"/>
        <pc:sldMkLst>
          <pc:docMk/>
          <pc:sldMk cId="0" sldId="258"/>
        </pc:sldMkLst>
        <pc:spChg chg="mod">
          <ac:chgData name="Jaymin Savnerkar" userId="S::jaymin.savnerkar@sapphiresolutions.net::1a600787-ac21-47d7-9260-df5080143df3" providerId="AD" clId="Web-{63FB0605-4FD6-4630-8906-09450B5DCC60}" dt="2026-03-20T13:58:14.811" v="20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7:51.139" v="17" actId="14100"/>
          <ac:spMkLst>
            <pc:docMk/>
            <pc:sldMk cId="0" sldId="258"/>
            <ac:spMk id="17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3:58:39.514" v="23" actId="14100"/>
        <pc:sldMkLst>
          <pc:docMk/>
          <pc:sldMk cId="0" sldId="259"/>
        </pc:sldMkLst>
        <pc:spChg chg="mod">
          <ac:chgData name="Jaymin Savnerkar" userId="S::jaymin.savnerkar@sapphiresolutions.net::1a600787-ac21-47d7-9260-df5080143df3" providerId="AD" clId="Web-{63FB0605-4FD6-4630-8906-09450B5DCC60}" dt="2026-03-20T13:58:39.514" v="23" actId="14100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3:59:24.904" v="31" actId="1076"/>
        <pc:sldMkLst>
          <pc:docMk/>
          <pc:sldMk cId="0" sldId="260"/>
        </pc:sldMkLst>
        <pc:spChg chg="mod">
          <ac:chgData name="Jaymin Savnerkar" userId="S::jaymin.savnerkar@sapphiresolutions.net::1a600787-ac21-47d7-9260-df5080143df3" providerId="AD" clId="Web-{63FB0605-4FD6-4630-8906-09450B5DCC60}" dt="2026-03-20T13:59:06.638" v="2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8:56.779" v="27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9:24.904" v="31" actId="1076"/>
          <ac:spMkLst>
            <pc:docMk/>
            <pc:sldMk cId="0" sldId="260"/>
            <ac:spMk id="20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3:59:59.013" v="37" actId="14100"/>
        <pc:sldMkLst>
          <pc:docMk/>
          <pc:sldMk cId="0" sldId="261"/>
        </pc:sldMkLst>
        <pc:spChg chg="mod">
          <ac:chgData name="Jaymin Savnerkar" userId="S::jaymin.savnerkar@sapphiresolutions.net::1a600787-ac21-47d7-9260-df5080143df3" providerId="AD" clId="Web-{63FB0605-4FD6-4630-8906-09450B5DCC60}" dt="2026-03-20T13:59:59.013" v="37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9:41.795" v="34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9:48.763" v="35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3:59:54.107" v="36" actId="14100"/>
          <ac:spMkLst>
            <pc:docMk/>
            <pc:sldMk cId="0" sldId="261"/>
            <ac:spMk id="16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4:00:21.529" v="42" actId="14100"/>
        <pc:sldMkLst>
          <pc:docMk/>
          <pc:sldMk cId="0" sldId="262"/>
        </pc:sldMkLst>
        <pc:spChg chg="mod">
          <ac:chgData name="Jaymin Savnerkar" userId="S::jaymin.savnerkar@sapphiresolutions.net::1a600787-ac21-47d7-9260-df5080143df3" providerId="AD" clId="Web-{63FB0605-4FD6-4630-8906-09450B5DCC60}" dt="2026-03-20T14:00:21.529" v="42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0:11.966" v="40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0:17.294" v="41" actId="14100"/>
          <ac:spMkLst>
            <pc:docMk/>
            <pc:sldMk cId="0" sldId="262"/>
            <ac:spMk id="19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4:00:42.591" v="47" actId="14100"/>
        <pc:sldMkLst>
          <pc:docMk/>
          <pc:sldMk cId="0" sldId="263"/>
        </pc:sldMkLst>
        <pc:spChg chg="mod">
          <ac:chgData name="Jaymin Savnerkar" userId="S::jaymin.savnerkar@sapphiresolutions.net::1a600787-ac21-47d7-9260-df5080143df3" providerId="AD" clId="Web-{63FB0605-4FD6-4630-8906-09450B5DCC60}" dt="2026-03-20T14:00:42.591" v="47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0:33.560" v="45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0:38.185" v="46" actId="14100"/>
          <ac:spMkLst>
            <pc:docMk/>
            <pc:sldMk cId="0" sldId="263"/>
            <ac:spMk id="9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4:00:55.091" v="48" actId="14100"/>
        <pc:sldMkLst>
          <pc:docMk/>
          <pc:sldMk cId="0" sldId="264"/>
        </pc:sldMkLst>
        <pc:spChg chg="mod">
          <ac:chgData name="Jaymin Savnerkar" userId="S::jaymin.savnerkar@sapphiresolutions.net::1a600787-ac21-47d7-9260-df5080143df3" providerId="AD" clId="Web-{63FB0605-4FD6-4630-8906-09450B5DCC60}" dt="2026-03-20T14:00:55.091" v="48" actId="14100"/>
          <ac:spMkLst>
            <pc:docMk/>
            <pc:sldMk cId="0" sldId="264"/>
            <ac:spMk id="25" creationId="{00000000-0000-0000-0000-000000000000}"/>
          </ac:spMkLst>
        </pc:spChg>
      </pc:sldChg>
      <pc:sldChg chg="modSp">
        <pc:chgData name="Jaymin Savnerkar" userId="S::jaymin.savnerkar@sapphiresolutions.net::1a600787-ac21-47d7-9260-df5080143df3" providerId="AD" clId="Web-{63FB0605-4FD6-4630-8906-09450B5DCC60}" dt="2026-03-20T14:02:01.529" v="54" actId="14100"/>
        <pc:sldMkLst>
          <pc:docMk/>
          <pc:sldMk cId="0" sldId="265"/>
        </pc:sldMkLst>
        <pc:spChg chg="mod">
          <ac:chgData name="Jaymin Savnerkar" userId="S::jaymin.savnerkar@sapphiresolutions.net::1a600787-ac21-47d7-9260-df5080143df3" providerId="AD" clId="Web-{63FB0605-4FD6-4630-8906-09450B5DCC60}" dt="2026-03-20T14:01:15.388" v="51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1:10.076" v="50" actId="1410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1:24.076" v="53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2:01.529" v="54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Jaymin Savnerkar" userId="S::jaymin.savnerkar@sapphiresolutions.net::1a600787-ac21-47d7-9260-df5080143df3" providerId="AD" clId="Web-{63FB0605-4FD6-4630-8906-09450B5DCC60}" dt="2026-03-20T14:01:03.169" v="49" actId="14100"/>
          <ac:spMkLst>
            <pc:docMk/>
            <pc:sldMk cId="0" sldId="265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2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8156"/>
            <a:ext cx="6858000" cy="10301829"/>
            <a:chOff x="0" y="0"/>
            <a:chExt cx="5715000" cy="85848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4819"/>
            </a:xfrm>
            <a:custGeom>
              <a:avLst/>
              <a:gdLst/>
              <a:ahLst/>
              <a:cxnLst/>
              <a:rect l="l" t="t" r="r" b="b"/>
              <a:pathLst>
                <a:path w="5715000" h="8584819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" t="-3" r="-7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878120" y="1452109"/>
            <a:ext cx="7239351" cy="259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7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Kaizen–Sapphire: NWA Corporate Website </a:t>
            </a:r>
          </a:p>
          <a:p>
            <a:pPr algn="l">
              <a:lnSpc>
                <a:spcPts val="135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Redevelopment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9041" y="4262504"/>
            <a:ext cx="80452" cy="770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78120" y="4698254"/>
            <a:ext cx="8421273" cy="48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Establish credibility + align with NWA vision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78120" y="5723468"/>
            <a:ext cx="9404452" cy="330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This presentation outlines Kaizen–Sapphire's strategy to redevelop the National Works Agency's corporate website into a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citizen-centric, scalable, and secure digital platform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.</a:t>
            </a:r>
          </a:p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 initiative supports Jamaica's broader digital transformation </a:t>
            </a:r>
          </a:p>
          <a:p>
            <a:pPr algn="l">
              <a:lnSpc>
                <a:spcPts val="1704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agenda by enabling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real-time communication, service </a:t>
            </a:r>
          </a:p>
          <a:p>
            <a:pPr algn="l">
              <a:lnSpc>
                <a:spcPts val="5495"/>
              </a:lnSpc>
            </a:pP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accessibility, and operational efficiency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across all stakeholders </a:t>
            </a:r>
          </a:p>
          <a:p>
            <a:pPr algn="l">
              <a:lnSpc>
                <a:spcPts val="1943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including citizens, contractors, and government entities.</a:t>
            </a:r>
          </a:p>
        </p:txBody>
      </p:sp>
      <p:sp>
        <p:nvSpPr>
          <p:cNvPr id="8" name="Freeform 8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115" y="4467619"/>
            <a:ext cx="8387075" cy="4516115"/>
            <a:chOff x="0" y="0"/>
            <a:chExt cx="5241925" cy="2822575"/>
          </a:xfrm>
        </p:grpSpPr>
        <p:sp>
          <p:nvSpPr>
            <p:cNvPr id="3" name="Freeform 3"/>
            <p:cNvSpPr/>
            <p:nvPr/>
          </p:nvSpPr>
          <p:spPr>
            <a:xfrm>
              <a:off x="63373" y="63500"/>
              <a:ext cx="5115179" cy="2695702"/>
            </a:xfrm>
            <a:custGeom>
              <a:avLst/>
              <a:gdLst/>
              <a:ahLst/>
              <a:cxnLst/>
              <a:rect l="l" t="t" r="r" b="b"/>
              <a:pathLst>
                <a:path w="5115179" h="2695702">
                  <a:moveTo>
                    <a:pt x="127" y="2672842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604"/>
                  </a:cubicBezTo>
                  <a:cubicBezTo>
                    <a:pt x="9017" y="4445"/>
                    <a:pt x="11430" y="2794"/>
                    <a:pt x="14224" y="1651"/>
                  </a:cubicBezTo>
                  <a:cubicBezTo>
                    <a:pt x="17018" y="508"/>
                    <a:pt x="19939" y="0"/>
                    <a:pt x="22860" y="0"/>
                  </a:cubicBezTo>
                  <a:lnTo>
                    <a:pt x="5092319" y="0"/>
                  </a:lnTo>
                  <a:cubicBezTo>
                    <a:pt x="5095367" y="0"/>
                    <a:pt x="5098288" y="635"/>
                    <a:pt x="5101082" y="1778"/>
                  </a:cubicBezTo>
                  <a:cubicBezTo>
                    <a:pt x="5103876" y="2921"/>
                    <a:pt x="5106289" y="4572"/>
                    <a:pt x="5108448" y="6731"/>
                  </a:cubicBezTo>
                  <a:cubicBezTo>
                    <a:pt x="5110607" y="8890"/>
                    <a:pt x="5112258" y="11303"/>
                    <a:pt x="5113401" y="14097"/>
                  </a:cubicBezTo>
                  <a:cubicBezTo>
                    <a:pt x="5114544" y="16891"/>
                    <a:pt x="5115179" y="19812"/>
                    <a:pt x="5115179" y="22860"/>
                  </a:cubicBezTo>
                  <a:lnTo>
                    <a:pt x="5115179" y="2672842"/>
                  </a:lnTo>
                  <a:cubicBezTo>
                    <a:pt x="5115179" y="2675890"/>
                    <a:pt x="5114544" y="2678811"/>
                    <a:pt x="5113401" y="2681605"/>
                  </a:cubicBezTo>
                  <a:cubicBezTo>
                    <a:pt x="5112258" y="2684399"/>
                    <a:pt x="5110607" y="2686812"/>
                    <a:pt x="5108448" y="2688971"/>
                  </a:cubicBezTo>
                  <a:cubicBezTo>
                    <a:pt x="5106289" y="2691130"/>
                    <a:pt x="5103876" y="2692781"/>
                    <a:pt x="5101082" y="2693924"/>
                  </a:cubicBezTo>
                  <a:cubicBezTo>
                    <a:pt x="5098288" y="2695067"/>
                    <a:pt x="5095367" y="2695702"/>
                    <a:pt x="5092319" y="2695702"/>
                  </a:cubicBezTo>
                  <a:lnTo>
                    <a:pt x="22860" y="2695702"/>
                  </a:lnTo>
                  <a:cubicBezTo>
                    <a:pt x="19812" y="2695702"/>
                    <a:pt x="16891" y="2695067"/>
                    <a:pt x="14097" y="2693924"/>
                  </a:cubicBezTo>
                  <a:cubicBezTo>
                    <a:pt x="11303" y="2692781"/>
                    <a:pt x="8890" y="2691130"/>
                    <a:pt x="6731" y="2688971"/>
                  </a:cubicBezTo>
                  <a:cubicBezTo>
                    <a:pt x="4572" y="2686812"/>
                    <a:pt x="2921" y="2684399"/>
                    <a:pt x="1778" y="2681605"/>
                  </a:cubicBezTo>
                  <a:cubicBezTo>
                    <a:pt x="635" y="2678811"/>
                    <a:pt x="0" y="2675890"/>
                    <a:pt x="0" y="2672842"/>
                  </a:cubicBezTo>
                  <a:close/>
                </a:path>
              </a:pathLst>
            </a:custGeom>
            <a:solidFill>
              <a:srgbClr val="1B174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63652" y="77800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63652" y="113030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63652" y="177800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63652" y="213995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63652" y="249250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17110" y="4629485"/>
            <a:ext cx="4411157" cy="48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Key Requirements Identified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0135" y="1957454"/>
            <a:ext cx="15231514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Show alignment with TOR</a:t>
            </a: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Understanding NWA's Vision &amp; Requirements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14759" y="4883534"/>
            <a:ext cx="7601636" cy="210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Our Commitment</a:t>
            </a:r>
          </a:p>
          <a:p>
            <a:pPr algn="l">
              <a:lnSpc>
                <a:spcPts val="3638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Our approach ensures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full alignment with all 21 TOR deliverables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while maintaining flexibility for future expansion.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3860" y="3552625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7815" y="5474770"/>
            <a:ext cx="6963324" cy="318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Real-time updates (road closures, alerts, tenders), Citizen service enablement (complaints, requests, </a:t>
            </a:r>
          </a:p>
          <a:p>
            <a:pPr algn="l">
              <a:lnSpc>
                <a:spcPts val="3001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reporting)</a:t>
            </a:r>
          </a:p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Mobile-first accessibility</a:t>
            </a:r>
          </a:p>
          <a:p>
            <a:pPr algn="l">
              <a:lnSpc>
                <a:spcPts val="3384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Integration readiness with internal systems</a:t>
            </a:r>
          </a:p>
          <a:p>
            <a:pPr algn="l">
              <a:lnSpc>
                <a:spcPts val="5495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Secure and compliant infrastructure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0135" y="3790750"/>
            <a:ext cx="14368196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NWA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website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positioned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mission-critical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digital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interface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,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not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just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an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informational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portal.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1605" y="83742"/>
            <a:ext cx="18491195" cy="10825475"/>
            <a:chOff x="0" y="0"/>
            <a:chExt cx="11557000" cy="67659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271C4E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271C4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6638925"/>
            </a:xfrm>
            <a:custGeom>
              <a:avLst/>
              <a:gdLst/>
              <a:ahLst/>
              <a:cxnLst/>
              <a:rect l="l" t="t" r="r" b="b"/>
              <a:pathLst>
                <a:path w="11430000" h="6638925">
                  <a:moveTo>
                    <a:pt x="0" y="0"/>
                  </a:moveTo>
                  <a:lnTo>
                    <a:pt x="11430000" y="0"/>
                  </a:lnTo>
                  <a:lnTo>
                    <a:pt x="11430000" y="6638925"/>
                  </a:lnTo>
                  <a:lnTo>
                    <a:pt x="0" y="6638925"/>
                  </a:lnTo>
                  <a:close/>
                </a:path>
              </a:pathLst>
            </a:custGeom>
            <a:solidFill>
              <a:srgbClr val="100C3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01548" y="2206498"/>
              <a:ext cx="4981829" cy="1324229"/>
            </a:xfrm>
            <a:custGeom>
              <a:avLst/>
              <a:gdLst/>
              <a:ahLst/>
              <a:cxnLst/>
              <a:rect l="l" t="t" r="r" b="b"/>
              <a:pathLst>
                <a:path w="4981829" h="1324229">
                  <a:moveTo>
                    <a:pt x="127" y="1301369"/>
                  </a:move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1"/>
                  </a:cubicBez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4958969" y="0"/>
                  </a:lnTo>
                  <a:cubicBezTo>
                    <a:pt x="4962017" y="0"/>
                    <a:pt x="4964938" y="635"/>
                    <a:pt x="4967732" y="1778"/>
                  </a:cubicBezTo>
                  <a:cubicBezTo>
                    <a:pt x="4970526" y="2921"/>
                    <a:pt x="4972939" y="4572"/>
                    <a:pt x="4975098" y="6731"/>
                  </a:cubicBezTo>
                  <a:cubicBezTo>
                    <a:pt x="4977257" y="8890"/>
                    <a:pt x="4978908" y="11303"/>
                    <a:pt x="4980051" y="14097"/>
                  </a:cubicBezTo>
                  <a:cubicBezTo>
                    <a:pt x="4981194" y="16891"/>
                    <a:pt x="4981829" y="19812"/>
                    <a:pt x="4981829" y="22860"/>
                  </a:cubicBezTo>
                  <a:lnTo>
                    <a:pt x="4981829" y="1301369"/>
                  </a:lnTo>
                  <a:cubicBezTo>
                    <a:pt x="4981829" y="1304417"/>
                    <a:pt x="4981194" y="1307338"/>
                    <a:pt x="4980051" y="1310132"/>
                  </a:cubicBezTo>
                  <a:cubicBezTo>
                    <a:pt x="4978908" y="1312926"/>
                    <a:pt x="4977257" y="1315339"/>
                    <a:pt x="4975098" y="1317498"/>
                  </a:cubicBezTo>
                  <a:cubicBezTo>
                    <a:pt x="4972939" y="1319657"/>
                    <a:pt x="4970526" y="1321308"/>
                    <a:pt x="4967732" y="1322451"/>
                  </a:cubicBezTo>
                  <a:cubicBezTo>
                    <a:pt x="4964938" y="1323594"/>
                    <a:pt x="4962017" y="1324229"/>
                    <a:pt x="4958969" y="1324229"/>
                  </a:cubicBezTo>
                  <a:lnTo>
                    <a:pt x="22860" y="1324229"/>
                  </a:lnTo>
                  <a:cubicBezTo>
                    <a:pt x="19812" y="1324229"/>
                    <a:pt x="16891" y="1323594"/>
                    <a:pt x="14097" y="1322451"/>
                  </a:cubicBezTo>
                  <a:cubicBezTo>
                    <a:pt x="11303" y="1321308"/>
                    <a:pt x="8890" y="1319657"/>
                    <a:pt x="6731" y="1317498"/>
                  </a:cubicBezTo>
                  <a:cubicBezTo>
                    <a:pt x="4572" y="1315339"/>
                    <a:pt x="2921" y="1312926"/>
                    <a:pt x="1778" y="1310132"/>
                  </a:cubicBezTo>
                  <a:cubicBezTo>
                    <a:pt x="635" y="1307338"/>
                    <a:pt x="0" y="1304417"/>
                    <a:pt x="0" y="1301369"/>
                  </a:cubicBez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873623" y="2206498"/>
              <a:ext cx="4981829" cy="1324229"/>
            </a:xfrm>
            <a:custGeom>
              <a:avLst/>
              <a:gdLst/>
              <a:ahLst/>
              <a:cxnLst/>
              <a:rect l="l" t="t" r="r" b="b"/>
              <a:pathLst>
                <a:path w="4981829" h="1324229">
                  <a:moveTo>
                    <a:pt x="127" y="1301369"/>
                  </a:move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1"/>
                  </a:cubicBez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4958969" y="0"/>
                  </a:lnTo>
                  <a:cubicBezTo>
                    <a:pt x="4962017" y="0"/>
                    <a:pt x="4964938" y="635"/>
                    <a:pt x="4967732" y="1778"/>
                  </a:cubicBezTo>
                  <a:cubicBezTo>
                    <a:pt x="4970526" y="2921"/>
                    <a:pt x="4972939" y="4572"/>
                    <a:pt x="4975099" y="6731"/>
                  </a:cubicBezTo>
                  <a:cubicBezTo>
                    <a:pt x="4977257" y="8890"/>
                    <a:pt x="4978908" y="11303"/>
                    <a:pt x="4980051" y="14097"/>
                  </a:cubicBezTo>
                  <a:cubicBezTo>
                    <a:pt x="4981194" y="16891"/>
                    <a:pt x="4981829" y="19812"/>
                    <a:pt x="4981829" y="22860"/>
                  </a:cubicBezTo>
                  <a:lnTo>
                    <a:pt x="4981829" y="1301369"/>
                  </a:lnTo>
                  <a:cubicBezTo>
                    <a:pt x="4981829" y="1304417"/>
                    <a:pt x="4981194" y="1307338"/>
                    <a:pt x="4980051" y="1310132"/>
                  </a:cubicBezTo>
                  <a:cubicBezTo>
                    <a:pt x="4978908" y="1312926"/>
                    <a:pt x="4977257" y="1315339"/>
                    <a:pt x="4975099" y="1317498"/>
                  </a:cubicBezTo>
                  <a:cubicBezTo>
                    <a:pt x="4972939" y="1319657"/>
                    <a:pt x="4970526" y="1321308"/>
                    <a:pt x="4967732" y="1322451"/>
                  </a:cubicBezTo>
                  <a:cubicBezTo>
                    <a:pt x="4964938" y="1323594"/>
                    <a:pt x="4962017" y="1324229"/>
                    <a:pt x="4958969" y="1324229"/>
                  </a:cubicBezTo>
                  <a:lnTo>
                    <a:pt x="22860" y="1324229"/>
                  </a:lnTo>
                  <a:cubicBezTo>
                    <a:pt x="19812" y="1324229"/>
                    <a:pt x="16891" y="1323594"/>
                    <a:pt x="14097" y="1322451"/>
                  </a:cubicBezTo>
                  <a:cubicBezTo>
                    <a:pt x="11303" y="1321308"/>
                    <a:pt x="8890" y="1319657"/>
                    <a:pt x="6731" y="1317498"/>
                  </a:cubicBezTo>
                  <a:cubicBezTo>
                    <a:pt x="4572" y="1315339"/>
                    <a:pt x="2921" y="1312926"/>
                    <a:pt x="1778" y="1310132"/>
                  </a:cubicBezTo>
                  <a:cubicBezTo>
                    <a:pt x="635" y="1307338"/>
                    <a:pt x="0" y="1304417"/>
                    <a:pt x="0" y="1301369"/>
                  </a:cubicBez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768350" y="4373817"/>
              <a:ext cx="273241" cy="234315"/>
            </a:xfrm>
            <a:custGeom>
              <a:avLst/>
              <a:gdLst/>
              <a:ahLst/>
              <a:cxnLst/>
              <a:rect l="l" t="t" r="r" b="b"/>
              <a:pathLst>
                <a:path w="273241" h="234315">
                  <a:moveTo>
                    <a:pt x="270383" y="124015"/>
                  </a:moveTo>
                  <a:cubicBezTo>
                    <a:pt x="274193" y="120205"/>
                    <a:pt x="274193" y="113982"/>
                    <a:pt x="270383" y="110172"/>
                  </a:cubicBezTo>
                  <a:lnTo>
                    <a:pt x="163068" y="2857"/>
                  </a:lnTo>
                  <a:cubicBezTo>
                    <a:pt x="159258" y="-953"/>
                    <a:pt x="153035" y="-953"/>
                    <a:pt x="149225" y="2857"/>
                  </a:cubicBezTo>
                  <a:cubicBezTo>
                    <a:pt x="145415" y="6667"/>
                    <a:pt x="145415" y="12890"/>
                    <a:pt x="149225" y="16700"/>
                  </a:cubicBezTo>
                  <a:lnTo>
                    <a:pt x="239903" y="107378"/>
                  </a:lnTo>
                  <a:lnTo>
                    <a:pt x="9779" y="107378"/>
                  </a:lnTo>
                  <a:cubicBezTo>
                    <a:pt x="4445" y="107378"/>
                    <a:pt x="0" y="111823"/>
                    <a:pt x="0" y="117157"/>
                  </a:cubicBezTo>
                  <a:cubicBezTo>
                    <a:pt x="0" y="122491"/>
                    <a:pt x="4445" y="126936"/>
                    <a:pt x="9779" y="126936"/>
                  </a:cubicBezTo>
                  <a:lnTo>
                    <a:pt x="240030" y="126936"/>
                  </a:lnTo>
                  <a:lnTo>
                    <a:pt x="149352" y="217614"/>
                  </a:lnTo>
                  <a:cubicBezTo>
                    <a:pt x="145542" y="221424"/>
                    <a:pt x="145542" y="227647"/>
                    <a:pt x="149352" y="231457"/>
                  </a:cubicBezTo>
                  <a:cubicBezTo>
                    <a:pt x="153162" y="235267"/>
                    <a:pt x="159385" y="235267"/>
                    <a:pt x="163195" y="231457"/>
                  </a:cubicBezTo>
                  <a:lnTo>
                    <a:pt x="270510" y="124142"/>
                  </a:ln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225925" y="4373817"/>
              <a:ext cx="273240" cy="234315"/>
            </a:xfrm>
            <a:custGeom>
              <a:avLst/>
              <a:gdLst/>
              <a:ahLst/>
              <a:cxnLst/>
              <a:rect l="l" t="t" r="r" b="b"/>
              <a:pathLst>
                <a:path w="273240" h="234315">
                  <a:moveTo>
                    <a:pt x="270383" y="124015"/>
                  </a:moveTo>
                  <a:cubicBezTo>
                    <a:pt x="274193" y="120205"/>
                    <a:pt x="274193" y="113982"/>
                    <a:pt x="270383" y="110172"/>
                  </a:cubicBezTo>
                  <a:lnTo>
                    <a:pt x="163068" y="2857"/>
                  </a:lnTo>
                  <a:cubicBezTo>
                    <a:pt x="159258" y="-953"/>
                    <a:pt x="153035" y="-953"/>
                    <a:pt x="149225" y="2857"/>
                  </a:cubicBezTo>
                  <a:cubicBezTo>
                    <a:pt x="145415" y="6667"/>
                    <a:pt x="145415" y="12890"/>
                    <a:pt x="149225" y="16700"/>
                  </a:cubicBezTo>
                  <a:lnTo>
                    <a:pt x="239903" y="107378"/>
                  </a:lnTo>
                  <a:lnTo>
                    <a:pt x="9779" y="107378"/>
                  </a:lnTo>
                  <a:cubicBezTo>
                    <a:pt x="4445" y="107378"/>
                    <a:pt x="0" y="111823"/>
                    <a:pt x="0" y="117157"/>
                  </a:cubicBezTo>
                  <a:cubicBezTo>
                    <a:pt x="0" y="122491"/>
                    <a:pt x="4445" y="126936"/>
                    <a:pt x="9779" y="126936"/>
                  </a:cubicBezTo>
                  <a:lnTo>
                    <a:pt x="240030" y="126936"/>
                  </a:lnTo>
                  <a:lnTo>
                    <a:pt x="149352" y="217614"/>
                  </a:lnTo>
                  <a:cubicBezTo>
                    <a:pt x="145542" y="221424"/>
                    <a:pt x="145542" y="227647"/>
                    <a:pt x="149352" y="231457"/>
                  </a:cubicBezTo>
                  <a:cubicBezTo>
                    <a:pt x="153162" y="235267"/>
                    <a:pt x="159385" y="235267"/>
                    <a:pt x="163195" y="231457"/>
                  </a:cubicBezTo>
                  <a:lnTo>
                    <a:pt x="270510" y="124142"/>
                  </a:ln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693025" y="4373817"/>
              <a:ext cx="273240" cy="234315"/>
            </a:xfrm>
            <a:custGeom>
              <a:avLst/>
              <a:gdLst/>
              <a:ahLst/>
              <a:cxnLst/>
              <a:rect l="l" t="t" r="r" b="b"/>
              <a:pathLst>
                <a:path w="273240" h="234315">
                  <a:moveTo>
                    <a:pt x="270383" y="124015"/>
                  </a:moveTo>
                  <a:cubicBezTo>
                    <a:pt x="274193" y="120205"/>
                    <a:pt x="274193" y="113982"/>
                    <a:pt x="270383" y="110172"/>
                  </a:cubicBezTo>
                  <a:lnTo>
                    <a:pt x="163068" y="2857"/>
                  </a:lnTo>
                  <a:cubicBezTo>
                    <a:pt x="159258" y="-953"/>
                    <a:pt x="153035" y="-953"/>
                    <a:pt x="149225" y="2857"/>
                  </a:cubicBezTo>
                  <a:cubicBezTo>
                    <a:pt x="145414" y="6667"/>
                    <a:pt x="145414" y="12890"/>
                    <a:pt x="149225" y="16700"/>
                  </a:cubicBezTo>
                  <a:lnTo>
                    <a:pt x="239902" y="107378"/>
                  </a:lnTo>
                  <a:lnTo>
                    <a:pt x="9779" y="107378"/>
                  </a:lnTo>
                  <a:cubicBezTo>
                    <a:pt x="4445" y="107378"/>
                    <a:pt x="0" y="111823"/>
                    <a:pt x="0" y="117157"/>
                  </a:cubicBezTo>
                  <a:cubicBezTo>
                    <a:pt x="0" y="122491"/>
                    <a:pt x="4445" y="126936"/>
                    <a:pt x="9779" y="126936"/>
                  </a:cubicBezTo>
                  <a:lnTo>
                    <a:pt x="240030" y="126936"/>
                  </a:lnTo>
                  <a:lnTo>
                    <a:pt x="149352" y="217614"/>
                  </a:lnTo>
                  <a:cubicBezTo>
                    <a:pt x="145542" y="221424"/>
                    <a:pt x="145542" y="227647"/>
                    <a:pt x="149352" y="231457"/>
                  </a:cubicBezTo>
                  <a:cubicBezTo>
                    <a:pt x="153162" y="235267"/>
                    <a:pt x="159386" y="235267"/>
                    <a:pt x="163195" y="231457"/>
                  </a:cubicBezTo>
                  <a:lnTo>
                    <a:pt x="270511" y="124142"/>
                  </a:ln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701548" y="5425948"/>
              <a:ext cx="10153904" cy="781177"/>
            </a:xfrm>
            <a:custGeom>
              <a:avLst/>
              <a:gdLst/>
              <a:ahLst/>
              <a:cxnLst/>
              <a:rect l="l" t="t" r="r" b="b"/>
              <a:pathLst>
                <a:path w="10153904" h="781177">
                  <a:moveTo>
                    <a:pt x="127" y="758444"/>
                  </a:move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1"/>
                  </a:cubicBez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10131044" y="0"/>
                  </a:lnTo>
                  <a:cubicBezTo>
                    <a:pt x="10134092" y="0"/>
                    <a:pt x="10137013" y="635"/>
                    <a:pt x="10139807" y="1778"/>
                  </a:cubicBezTo>
                  <a:cubicBezTo>
                    <a:pt x="10142601" y="2921"/>
                    <a:pt x="10145014" y="4572"/>
                    <a:pt x="10147174" y="6731"/>
                  </a:cubicBezTo>
                  <a:cubicBezTo>
                    <a:pt x="10149332" y="8890"/>
                    <a:pt x="10150983" y="11303"/>
                    <a:pt x="10152126" y="14097"/>
                  </a:cubicBezTo>
                  <a:cubicBezTo>
                    <a:pt x="10153269" y="16891"/>
                    <a:pt x="10153904" y="19812"/>
                    <a:pt x="10153904" y="22860"/>
                  </a:cubicBezTo>
                  <a:lnTo>
                    <a:pt x="10153904" y="758317"/>
                  </a:lnTo>
                  <a:cubicBezTo>
                    <a:pt x="10153904" y="761365"/>
                    <a:pt x="10153269" y="764286"/>
                    <a:pt x="10152126" y="767080"/>
                  </a:cubicBezTo>
                  <a:cubicBezTo>
                    <a:pt x="10150983" y="769874"/>
                    <a:pt x="10149332" y="772287"/>
                    <a:pt x="10147174" y="774446"/>
                  </a:cubicBezTo>
                  <a:cubicBezTo>
                    <a:pt x="10145014" y="776605"/>
                    <a:pt x="10142601" y="778256"/>
                    <a:pt x="10139807" y="779399"/>
                  </a:cubicBezTo>
                  <a:cubicBezTo>
                    <a:pt x="10137013" y="780542"/>
                    <a:pt x="10134092" y="781177"/>
                    <a:pt x="10131044" y="781177"/>
                  </a:cubicBezTo>
                  <a:lnTo>
                    <a:pt x="22860" y="781177"/>
                  </a:lnTo>
                  <a:cubicBezTo>
                    <a:pt x="19812" y="781177"/>
                    <a:pt x="16891" y="780542"/>
                    <a:pt x="14097" y="779399"/>
                  </a:cubicBezTo>
                  <a:cubicBezTo>
                    <a:pt x="11303" y="778256"/>
                    <a:pt x="8890" y="776605"/>
                    <a:pt x="6731" y="774446"/>
                  </a:cubicBezTo>
                  <a:cubicBezTo>
                    <a:pt x="4572" y="772287"/>
                    <a:pt x="2921" y="769874"/>
                    <a:pt x="1778" y="767080"/>
                  </a:cubicBezTo>
                  <a:cubicBezTo>
                    <a:pt x="635" y="764286"/>
                    <a:pt x="0" y="761365"/>
                    <a:pt x="0" y="758317"/>
                  </a:cubicBezTo>
                  <a:close/>
                </a:path>
              </a:pathLst>
            </a:custGeom>
            <a:solidFill>
              <a:srgbClr val="4C0107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916813" y="5685155"/>
              <a:ext cx="159258" cy="159385"/>
            </a:xfrm>
            <a:custGeom>
              <a:avLst/>
              <a:gdLst/>
              <a:ahLst/>
              <a:cxnLst/>
              <a:rect l="l" t="t" r="r" b="b"/>
              <a:pathLst>
                <a:path w="159258" h="159385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606"/>
                  </a:lnTo>
                  <a:cubicBezTo>
                    <a:pt x="142367" y="19431"/>
                    <a:pt x="139827" y="16891"/>
                    <a:pt x="136652" y="16891"/>
                  </a:cubicBezTo>
                  <a:lnTo>
                    <a:pt x="22733" y="16891"/>
                  </a:lnTo>
                  <a:close/>
                  <a:moveTo>
                    <a:pt x="102489" y="159258"/>
                  </a:moveTo>
                  <a:lnTo>
                    <a:pt x="22733" y="159258"/>
                  </a:lnTo>
                  <a:cubicBezTo>
                    <a:pt x="10160" y="159258"/>
                    <a:pt x="0" y="149098"/>
                    <a:pt x="0" y="136525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525" y="0"/>
                  </a:lnTo>
                  <a:cubicBezTo>
                    <a:pt x="149098" y="0"/>
                    <a:pt x="159258" y="10160"/>
                    <a:pt x="159258" y="22733"/>
                  </a:cubicBezTo>
                  <a:lnTo>
                    <a:pt x="159258" y="102489"/>
                  </a:lnTo>
                  <a:lnTo>
                    <a:pt x="159258" y="104394"/>
                  </a:lnTo>
                  <a:cubicBezTo>
                    <a:pt x="159258" y="110490"/>
                    <a:pt x="156845" y="116205"/>
                    <a:pt x="152654" y="120523"/>
                  </a:cubicBezTo>
                  <a:lnTo>
                    <a:pt x="120396" y="152781"/>
                  </a:lnTo>
                  <a:cubicBezTo>
                    <a:pt x="116078" y="157099"/>
                    <a:pt x="110363" y="159385"/>
                    <a:pt x="104267" y="159385"/>
                  </a:cubicBezTo>
                  <a:lnTo>
                    <a:pt x="102362" y="159385"/>
                  </a:lnTo>
                  <a:close/>
                </a:path>
              </a:pathLst>
            </a:custGeom>
            <a:solidFill>
              <a:srgbClr val="FD6875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311600" y="3852456"/>
            <a:ext cx="7362871" cy="152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Kaizen</a:t>
            </a:r>
          </a:p>
          <a:p>
            <a:pPr algn="l">
              <a:lnSpc>
                <a:spcPts val="371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Deep expertise in Jamaican government projects and stakeholder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0135" y="5955547"/>
            <a:ext cx="2160803" cy="956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Key Strengths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0135" y="926376"/>
            <a:ext cx="7693300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dirty="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 dirty="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Differentiate + justify selection</a:t>
            </a: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</a:endParaRP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Our Value Proposition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81205" y="3852456"/>
            <a:ext cx="6840626" cy="105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Sapphire</a:t>
            </a:r>
          </a:p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20+ years of global enterprise technology delivery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33860" y="2506307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67393" y="6918287"/>
            <a:ext cx="3622899" cy="96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Proven execution of large- scale ICT projects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0135" y="2744432"/>
            <a:ext cx="8739317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Kaizen–Sapphire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partnership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delivers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hybrid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advantage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4755" y="6927812"/>
            <a:ext cx="3457240" cy="141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Strong understanding of government compliance frameworks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7393" y="9053792"/>
            <a:ext cx="8985184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This ensures 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low execution risk and high delivery confidence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42102" y="6927812"/>
            <a:ext cx="4250512" cy="141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End-to-end delivery ownership (strategy </a:t>
            </a:r>
            <a:r>
              <a:rPr lang="en-US" sz="2294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→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deployment </a:t>
            </a:r>
            <a:r>
              <a:rPr lang="en-US" sz="2294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→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support)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595520" y="367044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5"/>
                </a:lnTo>
                <a:lnTo>
                  <a:pt x="0" y="73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0663" y="-89711"/>
            <a:ext cx="16326661" cy="11172997"/>
          </a:xfrm>
          <a:custGeom>
            <a:avLst/>
            <a:gdLst/>
            <a:ahLst/>
            <a:cxnLst/>
            <a:rect l="l" t="t" r="r" b="b"/>
            <a:pathLst>
              <a:path w="16326661" h="11172997">
                <a:moveTo>
                  <a:pt x="0" y="0"/>
                </a:moveTo>
                <a:lnTo>
                  <a:pt x="16326661" y="0"/>
                </a:lnTo>
                <a:lnTo>
                  <a:pt x="16326661" y="11172996"/>
                </a:lnTo>
                <a:lnTo>
                  <a:pt x="0" y="11172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55354" y="6569371"/>
            <a:ext cx="5490631" cy="95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CMS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React-based admin panel (role-based control)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55354" y="4026179"/>
            <a:ext cx="5205013" cy="95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Frontend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Next.js (high-performance, SEO-optimized)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71095" y="8184096"/>
            <a:ext cx="1715780" cy="43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Key Benefits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28442" y="9244855"/>
            <a:ext cx="3132378" cy="7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High performance and 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1095" y="648712"/>
            <a:ext cx="9381430" cy="126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50" dirty="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350" dirty="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Demonstrate technical clarity</a:t>
            </a:r>
          </a:p>
          <a:p>
            <a:pPr>
              <a:lnSpc>
                <a:spcPts val="3336"/>
              </a:lnSpc>
            </a:pPr>
            <a:endParaRPr lang="en-US" sz="235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383"/>
              </a:lnSpc>
            </a:pPr>
            <a:r>
              <a:rPr lang="en-US" sz="4767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Solution Architecture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10383" y="9244855"/>
            <a:ext cx="2976261" cy="7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Seamless integration capabilities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6939" y="4026179"/>
            <a:ext cx="5429782" cy="95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Backend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Node.js APIs (scalable and integration-ready)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56939" y="6569371"/>
            <a:ext cx="2859207" cy="95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Database</a:t>
            </a:r>
          </a:p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PostgreSQL / MongoDB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2324" y="9206755"/>
            <a:ext cx="4327450" cy="43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2383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Future-ready digital ecosystem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24685" y="2053925"/>
            <a:ext cx="65612" cy="59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4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71095" y="2263475"/>
            <a:ext cx="8425098" cy="41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proposed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platform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is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built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on</a:t>
            </a:r>
            <a:r>
              <a:rPr lang="en-US" sz="2025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</a:t>
            </a:r>
            <a:r>
              <a:rPr lang="en-US" sz="2025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025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modern,</a:t>
            </a:r>
            <a:r>
              <a:rPr lang="en-US" sz="2025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025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modular</a:t>
            </a:r>
            <a:r>
              <a:rPr lang="en-US" sz="2025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025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architecture</a:t>
            </a:r>
            <a:r>
              <a:rPr lang="en-US" sz="2025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957379" y="160428"/>
            <a:ext cx="3008844" cy="648747"/>
          </a:xfrm>
          <a:custGeom>
            <a:avLst/>
            <a:gdLst/>
            <a:ahLst/>
            <a:cxnLst/>
            <a:rect l="l" t="t" r="r" b="b"/>
            <a:pathLst>
              <a:path w="3008844" h="648747">
                <a:moveTo>
                  <a:pt x="0" y="0"/>
                </a:moveTo>
                <a:lnTo>
                  <a:pt x="3008843" y="0"/>
                </a:lnTo>
                <a:lnTo>
                  <a:pt x="3008843" y="648747"/>
                </a:lnTo>
                <a:lnTo>
                  <a:pt x="0" y="648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560" y="5544584"/>
            <a:ext cx="106680" cy="106680"/>
            <a:chOff x="0" y="0"/>
            <a:chExt cx="66675" cy="6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51560" y="6108464"/>
            <a:ext cx="106680" cy="106680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51560" y="6672344"/>
            <a:ext cx="106680" cy="106680"/>
            <a:chOff x="0" y="0"/>
            <a:chExt cx="66675" cy="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51560" y="7236224"/>
            <a:ext cx="106680" cy="106680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9475" y="7896619"/>
            <a:ext cx="16449035" cy="1452875"/>
            <a:chOff x="0" y="0"/>
            <a:chExt cx="10280650" cy="908050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10153777" cy="781177"/>
            </a:xfrm>
            <a:custGeom>
              <a:avLst/>
              <a:gdLst/>
              <a:ahLst/>
              <a:cxnLst/>
              <a:rect l="l" t="t" r="r" b="b"/>
              <a:pathLst>
                <a:path w="10153777" h="781177">
                  <a:moveTo>
                    <a:pt x="0" y="758317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794"/>
                    <a:pt x="14097" y="1651"/>
                  </a:cubicBezTo>
                  <a:cubicBezTo>
                    <a:pt x="16891" y="508"/>
                    <a:pt x="19812" y="0"/>
                    <a:pt x="22733" y="0"/>
                  </a:cubicBezTo>
                  <a:lnTo>
                    <a:pt x="10130917" y="0"/>
                  </a:lnTo>
                  <a:cubicBezTo>
                    <a:pt x="10133965" y="0"/>
                    <a:pt x="10136886" y="635"/>
                    <a:pt x="10139680" y="1778"/>
                  </a:cubicBezTo>
                  <a:cubicBezTo>
                    <a:pt x="10142474" y="2921"/>
                    <a:pt x="10144887" y="4572"/>
                    <a:pt x="10147047" y="6731"/>
                  </a:cubicBezTo>
                  <a:cubicBezTo>
                    <a:pt x="10149205" y="8890"/>
                    <a:pt x="10150856" y="11303"/>
                    <a:pt x="10151999" y="14097"/>
                  </a:cubicBezTo>
                  <a:cubicBezTo>
                    <a:pt x="10153142" y="16891"/>
                    <a:pt x="10153777" y="19812"/>
                    <a:pt x="10153777" y="22860"/>
                  </a:cubicBezTo>
                  <a:lnTo>
                    <a:pt x="10153777" y="758317"/>
                  </a:lnTo>
                  <a:cubicBezTo>
                    <a:pt x="10153777" y="761365"/>
                    <a:pt x="10153142" y="764286"/>
                    <a:pt x="10151999" y="767080"/>
                  </a:cubicBezTo>
                  <a:cubicBezTo>
                    <a:pt x="10150856" y="769874"/>
                    <a:pt x="10149205" y="772287"/>
                    <a:pt x="10147047" y="774446"/>
                  </a:cubicBezTo>
                  <a:cubicBezTo>
                    <a:pt x="10144887" y="776605"/>
                    <a:pt x="10142474" y="778256"/>
                    <a:pt x="10139680" y="779399"/>
                  </a:cubicBezTo>
                  <a:cubicBezTo>
                    <a:pt x="10136886" y="780542"/>
                    <a:pt x="10133965" y="781177"/>
                    <a:pt x="10130917" y="781177"/>
                  </a:cubicBezTo>
                  <a:lnTo>
                    <a:pt x="22733" y="781177"/>
                  </a:lnTo>
                  <a:cubicBezTo>
                    <a:pt x="19685" y="781177"/>
                    <a:pt x="16764" y="780542"/>
                    <a:pt x="13970" y="779399"/>
                  </a:cubicBezTo>
                  <a:cubicBezTo>
                    <a:pt x="11176" y="778256"/>
                    <a:pt x="8763" y="776605"/>
                    <a:pt x="6604" y="774446"/>
                  </a:cubicBezTo>
                  <a:cubicBezTo>
                    <a:pt x="4445" y="772287"/>
                    <a:pt x="2794" y="769874"/>
                    <a:pt x="1651" y="767080"/>
                  </a:cubicBezTo>
                  <a:cubicBezTo>
                    <a:pt x="508" y="764286"/>
                    <a:pt x="0" y="761238"/>
                    <a:pt x="0" y="758317"/>
                  </a:cubicBezTo>
                  <a:close/>
                </a:path>
              </a:pathLst>
            </a:custGeom>
            <a:solidFill>
              <a:srgbClr val="4C0107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78638" y="322580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5" h="159385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733"/>
                  </a:lnTo>
                  <a:cubicBezTo>
                    <a:pt x="142367" y="19558"/>
                    <a:pt x="139827" y="17018"/>
                    <a:pt x="136652" y="17018"/>
                  </a:cubicBezTo>
                  <a:lnTo>
                    <a:pt x="22733" y="17018"/>
                  </a:lnTo>
                  <a:close/>
                  <a:moveTo>
                    <a:pt x="102489" y="159385"/>
                  </a:moveTo>
                  <a:lnTo>
                    <a:pt x="22733" y="159385"/>
                  </a:lnTo>
                  <a:cubicBezTo>
                    <a:pt x="10160" y="159385"/>
                    <a:pt x="0" y="149225"/>
                    <a:pt x="0" y="136652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652" y="0"/>
                  </a:lnTo>
                  <a:cubicBezTo>
                    <a:pt x="149225" y="0"/>
                    <a:pt x="159385" y="10160"/>
                    <a:pt x="159385" y="22733"/>
                  </a:cubicBezTo>
                  <a:lnTo>
                    <a:pt x="159385" y="102489"/>
                  </a:lnTo>
                  <a:lnTo>
                    <a:pt x="159385" y="104394"/>
                  </a:lnTo>
                  <a:cubicBezTo>
                    <a:pt x="159385" y="110490"/>
                    <a:pt x="156972" y="116205"/>
                    <a:pt x="152781" y="120523"/>
                  </a:cubicBezTo>
                  <a:lnTo>
                    <a:pt x="120523" y="152781"/>
                  </a:lnTo>
                  <a:cubicBezTo>
                    <a:pt x="116205" y="157099"/>
                    <a:pt x="110490" y="159385"/>
                    <a:pt x="104394" y="159385"/>
                  </a:cubicBezTo>
                  <a:lnTo>
                    <a:pt x="102489" y="159385"/>
                  </a:lnTo>
                  <a:close/>
                </a:path>
              </a:pathLst>
            </a:custGeom>
            <a:solidFill>
              <a:srgbClr val="FD6875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210035" y="4284739"/>
            <a:ext cx="8387075" cy="3495035"/>
            <a:chOff x="0" y="0"/>
            <a:chExt cx="5241925" cy="2184400"/>
          </a:xfrm>
        </p:grpSpPr>
        <p:sp>
          <p:nvSpPr>
            <p:cNvPr id="14" name="Freeform 14"/>
            <p:cNvSpPr/>
            <p:nvPr/>
          </p:nvSpPr>
          <p:spPr>
            <a:xfrm>
              <a:off x="63373" y="63500"/>
              <a:ext cx="5115179" cy="2057527"/>
            </a:xfrm>
            <a:custGeom>
              <a:avLst/>
              <a:gdLst/>
              <a:ahLst/>
              <a:cxnLst/>
              <a:rect l="l" t="t" r="r" b="b"/>
              <a:pathLst>
                <a:path w="5115179" h="2057527">
                  <a:moveTo>
                    <a:pt x="127" y="2034667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604"/>
                  </a:cubicBezTo>
                  <a:cubicBezTo>
                    <a:pt x="9017" y="4445"/>
                    <a:pt x="11430" y="2794"/>
                    <a:pt x="14224" y="1651"/>
                  </a:cubicBezTo>
                  <a:cubicBezTo>
                    <a:pt x="17018" y="508"/>
                    <a:pt x="19939" y="0"/>
                    <a:pt x="22860" y="0"/>
                  </a:cubicBezTo>
                  <a:lnTo>
                    <a:pt x="5092319" y="0"/>
                  </a:lnTo>
                  <a:cubicBezTo>
                    <a:pt x="5095367" y="0"/>
                    <a:pt x="5098288" y="635"/>
                    <a:pt x="5101082" y="1778"/>
                  </a:cubicBezTo>
                  <a:cubicBezTo>
                    <a:pt x="5103876" y="2921"/>
                    <a:pt x="5106289" y="4572"/>
                    <a:pt x="5108448" y="6731"/>
                  </a:cubicBezTo>
                  <a:cubicBezTo>
                    <a:pt x="5110607" y="8890"/>
                    <a:pt x="5112258" y="11303"/>
                    <a:pt x="5113401" y="14097"/>
                  </a:cubicBezTo>
                  <a:cubicBezTo>
                    <a:pt x="5114544" y="16891"/>
                    <a:pt x="5115179" y="19812"/>
                    <a:pt x="5115179" y="22860"/>
                  </a:cubicBezTo>
                  <a:lnTo>
                    <a:pt x="5115179" y="2034667"/>
                  </a:lnTo>
                  <a:cubicBezTo>
                    <a:pt x="5115179" y="2037715"/>
                    <a:pt x="5114544" y="2040636"/>
                    <a:pt x="5113401" y="2043430"/>
                  </a:cubicBezTo>
                  <a:cubicBezTo>
                    <a:pt x="5112258" y="2046224"/>
                    <a:pt x="5110607" y="2048637"/>
                    <a:pt x="5108448" y="2050796"/>
                  </a:cubicBezTo>
                  <a:cubicBezTo>
                    <a:pt x="5106289" y="2052955"/>
                    <a:pt x="5103876" y="2054606"/>
                    <a:pt x="5101082" y="2055749"/>
                  </a:cubicBezTo>
                  <a:cubicBezTo>
                    <a:pt x="5098288" y="2056892"/>
                    <a:pt x="5095367" y="2057527"/>
                    <a:pt x="5092319" y="2057527"/>
                  </a:cubicBezTo>
                  <a:lnTo>
                    <a:pt x="22860" y="2057527"/>
                  </a:lnTo>
                  <a:cubicBezTo>
                    <a:pt x="19812" y="2057527"/>
                    <a:pt x="16891" y="2056892"/>
                    <a:pt x="14097" y="2055749"/>
                  </a:cubicBezTo>
                  <a:cubicBezTo>
                    <a:pt x="11303" y="2054606"/>
                    <a:pt x="8890" y="2052955"/>
                    <a:pt x="6731" y="2050796"/>
                  </a:cubicBezTo>
                  <a:cubicBezTo>
                    <a:pt x="4572" y="2048637"/>
                    <a:pt x="2921" y="2046224"/>
                    <a:pt x="1778" y="2043430"/>
                  </a:cubicBezTo>
                  <a:cubicBezTo>
                    <a:pt x="635" y="2040636"/>
                    <a:pt x="0" y="2037715"/>
                    <a:pt x="0" y="2034667"/>
                  </a:cubicBezTo>
                  <a:close/>
                </a:path>
              </a:pathLst>
            </a:custGeom>
            <a:solidFill>
              <a:srgbClr val="1B1744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63652" y="78740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63652" y="113995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63652" y="149225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20135" y="4287419"/>
            <a:ext cx="5081991" cy="48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Accessibility &amp; Design Standards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7084" y="1479895"/>
            <a:ext cx="14287614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Address design evaluation criteria</a:t>
            </a: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Citizen-Centric Experience (UI/UX Strategy)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47263" y="4541468"/>
            <a:ext cx="2963220" cy="467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Key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3860" y="3278305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6144" y="5215690"/>
            <a:ext cx="7252015" cy="224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WCAG 2.1 AA compliance Clean, intuitive navigation structure Clear content hierarchy (Home </a:t>
            </a:r>
            <a:r>
              <a:rPr lang="en-US" sz="2294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→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Sections </a:t>
            </a:r>
            <a:r>
              <a:rPr lang="en-US" sz="2294">
                <a:solidFill>
                  <a:srgbClr val="D9E1FF"/>
                </a:solidFill>
                <a:latin typeface="Martel Sans"/>
                <a:ea typeface="Martel Sans"/>
                <a:cs typeface="Martel Sans"/>
                <a:sym typeface="Martel Sans"/>
              </a:rPr>
              <a:t>→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Pages) User-friendly labels for non-technical audiences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7393" y="8286550"/>
            <a:ext cx="8014442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Outcome: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Improved citizen engagement and usability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0135" y="3516430"/>
            <a:ext cx="10475244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website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designed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using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mobile-first,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accessibility-first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approach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62454" y="5215690"/>
            <a:ext cx="4681606" cy="168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Smart search and filtering Interactive maps (GIS integration) Real-time alerts and updates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0803" y="4420985"/>
            <a:ext cx="949254" cy="964159"/>
          </a:xfrm>
          <a:custGeom>
            <a:avLst/>
            <a:gdLst/>
            <a:ahLst/>
            <a:cxnLst/>
            <a:rect l="l" t="t" r="r" b="b"/>
            <a:pathLst>
              <a:path w="949254" h="964159">
                <a:moveTo>
                  <a:pt x="0" y="0"/>
                </a:moveTo>
                <a:lnTo>
                  <a:pt x="949254" y="0"/>
                </a:lnTo>
                <a:lnTo>
                  <a:pt x="949254" y="964158"/>
                </a:lnTo>
                <a:lnTo>
                  <a:pt x="0" y="964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48840" y="569698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48840" y="658852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52519" y="4421000"/>
            <a:ext cx="530017" cy="964143"/>
          </a:xfrm>
          <a:custGeom>
            <a:avLst/>
            <a:gdLst/>
            <a:ahLst/>
            <a:cxnLst/>
            <a:rect l="l" t="t" r="r" b="b"/>
            <a:pathLst>
              <a:path w="530017" h="964143">
                <a:moveTo>
                  <a:pt x="0" y="0"/>
                </a:moveTo>
                <a:lnTo>
                  <a:pt x="530017" y="0"/>
                </a:lnTo>
                <a:lnTo>
                  <a:pt x="530017" y="964143"/>
                </a:lnTo>
                <a:lnTo>
                  <a:pt x="0" y="964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80960" y="516358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80960" y="575032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680960" y="678664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17212" y="4421000"/>
            <a:ext cx="895350" cy="964143"/>
          </a:xfrm>
          <a:custGeom>
            <a:avLst/>
            <a:gdLst/>
            <a:ahLst/>
            <a:cxnLst/>
            <a:rect l="l" t="t" r="r" b="b"/>
            <a:pathLst>
              <a:path w="895350" h="964143">
                <a:moveTo>
                  <a:pt x="0" y="0"/>
                </a:moveTo>
                <a:lnTo>
                  <a:pt x="895350" y="0"/>
                </a:lnTo>
                <a:lnTo>
                  <a:pt x="895350" y="964143"/>
                </a:lnTo>
                <a:lnTo>
                  <a:pt x="0" y="964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9475" y="7759459"/>
            <a:ext cx="16449035" cy="1437635"/>
          </a:xfrm>
          <a:custGeom>
            <a:avLst/>
            <a:gdLst/>
            <a:ahLst/>
            <a:cxnLst/>
            <a:rect l="l" t="t" r="r" b="b"/>
            <a:pathLst>
              <a:path w="16449035" h="1437635">
                <a:moveTo>
                  <a:pt x="0" y="0"/>
                </a:moveTo>
                <a:lnTo>
                  <a:pt x="16449035" y="0"/>
                </a:lnTo>
                <a:lnTo>
                  <a:pt x="16449035" y="1437635"/>
                </a:lnTo>
                <a:lnTo>
                  <a:pt x="0" y="143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213080" y="516358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13080" y="6215144"/>
            <a:ext cx="106680" cy="106680"/>
          </a:xfrm>
          <a:custGeom>
            <a:avLst/>
            <a:gdLst/>
            <a:ahLst/>
            <a:cxnLst/>
            <a:rect l="l" t="t" r="r" b="b"/>
            <a:pathLst>
              <a:path w="106680" h="106680">
                <a:moveTo>
                  <a:pt x="0" y="0"/>
                </a:moveTo>
                <a:lnTo>
                  <a:pt x="106680" y="0"/>
                </a:lnTo>
                <a:lnTo>
                  <a:pt x="106680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47015" y="4476262"/>
            <a:ext cx="3679629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Dynamic Content Management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339" y="1835534"/>
            <a:ext cx="13252938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Show functional depth</a:t>
            </a: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Core Functional Capabilities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67429" y="4455108"/>
            <a:ext cx="3064312" cy="484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Service Modules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4792" y="4438162"/>
            <a:ext cx="3443727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Real-Time 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3860" y="3430705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79126" y="5434765"/>
            <a:ext cx="3622411" cy="199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6 user roles with approval workflows</a:t>
            </a:r>
          </a:p>
          <a:p>
            <a:pPr algn="l">
              <a:lnSpc>
                <a:spcPts val="516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Audit logs and version </a:t>
            </a:r>
          </a:p>
          <a:p>
            <a:pPr algn="l">
              <a:lnSpc>
                <a:spcPts val="228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control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0135" y="3668830"/>
            <a:ext cx="7088033" cy="4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platform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delivers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comprehensive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functionality: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67393" y="8149390"/>
            <a:ext cx="9605513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This ensures 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operational efficiency and real-time responsiveness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16489" y="4931845"/>
            <a:ext cx="3687501" cy="216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Road repair reporting Complaints &amp; information </a:t>
            </a:r>
          </a:p>
          <a:p>
            <a:pPr algn="l">
              <a:lnSpc>
                <a:spcPts val="264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requests</a:t>
            </a:r>
          </a:p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Job listings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53851" y="5008045"/>
            <a:ext cx="3662446" cy="152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Live alerts (road closures, emergencies)</a:t>
            </a:r>
          </a:p>
          <a:p>
            <a:pPr algn="l">
              <a:lnSpc>
                <a:spcPts val="516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News and announcements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6115" y="3974407"/>
            <a:ext cx="8387075" cy="3952235"/>
            <a:chOff x="0" y="0"/>
            <a:chExt cx="5241925" cy="2470150"/>
          </a:xfrm>
        </p:grpSpPr>
        <p:sp>
          <p:nvSpPr>
            <p:cNvPr id="3" name="Freeform 3"/>
            <p:cNvSpPr/>
            <p:nvPr/>
          </p:nvSpPr>
          <p:spPr>
            <a:xfrm>
              <a:off x="63373" y="63500"/>
              <a:ext cx="5115179" cy="2343277"/>
            </a:xfrm>
            <a:custGeom>
              <a:avLst/>
              <a:gdLst/>
              <a:ahLst/>
              <a:cxnLst/>
              <a:rect l="l" t="t" r="r" b="b"/>
              <a:pathLst>
                <a:path w="5115179" h="2343277">
                  <a:moveTo>
                    <a:pt x="127" y="2320417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604"/>
                  </a:cubicBezTo>
                  <a:cubicBezTo>
                    <a:pt x="9017" y="4445"/>
                    <a:pt x="11430" y="2794"/>
                    <a:pt x="14224" y="1651"/>
                  </a:cubicBezTo>
                  <a:cubicBezTo>
                    <a:pt x="17018" y="508"/>
                    <a:pt x="19939" y="0"/>
                    <a:pt x="22860" y="0"/>
                  </a:cubicBezTo>
                  <a:lnTo>
                    <a:pt x="5092319" y="0"/>
                  </a:lnTo>
                  <a:cubicBezTo>
                    <a:pt x="5095367" y="0"/>
                    <a:pt x="5098288" y="635"/>
                    <a:pt x="5101082" y="1778"/>
                  </a:cubicBezTo>
                  <a:cubicBezTo>
                    <a:pt x="5103876" y="2921"/>
                    <a:pt x="5106289" y="4572"/>
                    <a:pt x="5108448" y="6731"/>
                  </a:cubicBezTo>
                  <a:cubicBezTo>
                    <a:pt x="5110607" y="8890"/>
                    <a:pt x="5112258" y="11303"/>
                    <a:pt x="5113401" y="14097"/>
                  </a:cubicBezTo>
                  <a:cubicBezTo>
                    <a:pt x="5114544" y="16891"/>
                    <a:pt x="5115179" y="19812"/>
                    <a:pt x="5115179" y="22860"/>
                  </a:cubicBezTo>
                  <a:lnTo>
                    <a:pt x="5115179" y="2320417"/>
                  </a:lnTo>
                  <a:cubicBezTo>
                    <a:pt x="5115179" y="2323465"/>
                    <a:pt x="5114544" y="2326386"/>
                    <a:pt x="5113401" y="2329180"/>
                  </a:cubicBezTo>
                  <a:cubicBezTo>
                    <a:pt x="5112258" y="2331974"/>
                    <a:pt x="5110607" y="2334387"/>
                    <a:pt x="5108448" y="2336546"/>
                  </a:cubicBezTo>
                  <a:cubicBezTo>
                    <a:pt x="5106289" y="2338705"/>
                    <a:pt x="5103876" y="2340356"/>
                    <a:pt x="5101082" y="2341499"/>
                  </a:cubicBezTo>
                  <a:cubicBezTo>
                    <a:pt x="5098288" y="2342642"/>
                    <a:pt x="5095367" y="2343277"/>
                    <a:pt x="5092319" y="2343277"/>
                  </a:cubicBezTo>
                  <a:lnTo>
                    <a:pt x="22860" y="2343277"/>
                  </a:lnTo>
                  <a:cubicBezTo>
                    <a:pt x="19812" y="2343277"/>
                    <a:pt x="16891" y="2342642"/>
                    <a:pt x="14097" y="2341499"/>
                  </a:cubicBezTo>
                  <a:cubicBezTo>
                    <a:pt x="11303" y="2340356"/>
                    <a:pt x="8890" y="2338705"/>
                    <a:pt x="6731" y="2336546"/>
                  </a:cubicBezTo>
                  <a:cubicBezTo>
                    <a:pt x="4572" y="2334387"/>
                    <a:pt x="2921" y="2331974"/>
                    <a:pt x="1778" y="2329180"/>
                  </a:cubicBezTo>
                  <a:cubicBezTo>
                    <a:pt x="635" y="2326386"/>
                    <a:pt x="0" y="2323465"/>
                    <a:pt x="0" y="2320417"/>
                  </a:cubicBezTo>
                  <a:close/>
                </a:path>
              </a:pathLst>
            </a:custGeom>
            <a:solidFill>
              <a:srgbClr val="1B1744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63652" y="77800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63652" y="113995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63652" y="178765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63652" y="213995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9475" y="8140459"/>
            <a:ext cx="16449035" cy="1437635"/>
            <a:chOff x="0" y="0"/>
            <a:chExt cx="10280650" cy="898525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10153777" cy="771652"/>
            </a:xfrm>
            <a:custGeom>
              <a:avLst/>
              <a:gdLst/>
              <a:ahLst/>
              <a:cxnLst/>
              <a:rect l="l" t="t" r="r" b="b"/>
              <a:pathLst>
                <a:path w="10153777" h="771652">
                  <a:moveTo>
                    <a:pt x="0" y="74879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794"/>
                    <a:pt x="14097" y="1651"/>
                  </a:cubicBezTo>
                  <a:cubicBezTo>
                    <a:pt x="16891" y="508"/>
                    <a:pt x="19812" y="0"/>
                    <a:pt x="22733" y="0"/>
                  </a:cubicBezTo>
                  <a:lnTo>
                    <a:pt x="10130917" y="0"/>
                  </a:lnTo>
                  <a:cubicBezTo>
                    <a:pt x="10133965" y="0"/>
                    <a:pt x="10136886" y="635"/>
                    <a:pt x="10139680" y="1778"/>
                  </a:cubicBezTo>
                  <a:cubicBezTo>
                    <a:pt x="10142474" y="2921"/>
                    <a:pt x="10144887" y="4572"/>
                    <a:pt x="10147047" y="6731"/>
                  </a:cubicBezTo>
                  <a:cubicBezTo>
                    <a:pt x="10149205" y="8890"/>
                    <a:pt x="10150856" y="11303"/>
                    <a:pt x="10151999" y="14097"/>
                  </a:cubicBezTo>
                  <a:cubicBezTo>
                    <a:pt x="10153142" y="16891"/>
                    <a:pt x="10153777" y="19812"/>
                    <a:pt x="10153777" y="22860"/>
                  </a:cubicBezTo>
                  <a:lnTo>
                    <a:pt x="10153777" y="748792"/>
                  </a:lnTo>
                  <a:cubicBezTo>
                    <a:pt x="10153777" y="751840"/>
                    <a:pt x="10153142" y="754761"/>
                    <a:pt x="10151999" y="757555"/>
                  </a:cubicBezTo>
                  <a:cubicBezTo>
                    <a:pt x="10150856" y="760349"/>
                    <a:pt x="10149205" y="762762"/>
                    <a:pt x="10147047" y="764921"/>
                  </a:cubicBezTo>
                  <a:cubicBezTo>
                    <a:pt x="10144887" y="767080"/>
                    <a:pt x="10142474" y="768731"/>
                    <a:pt x="10139680" y="769874"/>
                  </a:cubicBezTo>
                  <a:cubicBezTo>
                    <a:pt x="10136886" y="771017"/>
                    <a:pt x="10133965" y="771652"/>
                    <a:pt x="10130917" y="771652"/>
                  </a:cubicBezTo>
                  <a:lnTo>
                    <a:pt x="22733" y="771652"/>
                  </a:lnTo>
                  <a:cubicBezTo>
                    <a:pt x="19685" y="771652"/>
                    <a:pt x="16764" y="771017"/>
                    <a:pt x="13970" y="769874"/>
                  </a:cubicBezTo>
                  <a:cubicBezTo>
                    <a:pt x="11176" y="768731"/>
                    <a:pt x="8763" y="767080"/>
                    <a:pt x="6604" y="764921"/>
                  </a:cubicBezTo>
                  <a:cubicBezTo>
                    <a:pt x="4445" y="762762"/>
                    <a:pt x="2794" y="760349"/>
                    <a:pt x="1651" y="757555"/>
                  </a:cubicBezTo>
                  <a:cubicBezTo>
                    <a:pt x="508" y="754761"/>
                    <a:pt x="0" y="751713"/>
                    <a:pt x="0" y="748792"/>
                  </a:cubicBezTo>
                  <a:close/>
                </a:path>
              </a:pathLst>
            </a:custGeom>
            <a:solidFill>
              <a:srgbClr val="4C0107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78638" y="322580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5" h="159385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733"/>
                  </a:lnTo>
                  <a:cubicBezTo>
                    <a:pt x="142367" y="19558"/>
                    <a:pt x="139827" y="17018"/>
                    <a:pt x="136652" y="17018"/>
                  </a:cubicBezTo>
                  <a:lnTo>
                    <a:pt x="22733" y="17018"/>
                  </a:lnTo>
                  <a:close/>
                  <a:moveTo>
                    <a:pt x="102489" y="159385"/>
                  </a:moveTo>
                  <a:lnTo>
                    <a:pt x="22733" y="159385"/>
                  </a:lnTo>
                  <a:cubicBezTo>
                    <a:pt x="10160" y="159385"/>
                    <a:pt x="0" y="149225"/>
                    <a:pt x="0" y="136652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652" y="0"/>
                  </a:lnTo>
                  <a:cubicBezTo>
                    <a:pt x="149225" y="0"/>
                    <a:pt x="159385" y="10160"/>
                    <a:pt x="159385" y="22733"/>
                  </a:cubicBezTo>
                  <a:lnTo>
                    <a:pt x="159385" y="102489"/>
                  </a:lnTo>
                  <a:lnTo>
                    <a:pt x="159385" y="104394"/>
                  </a:lnTo>
                  <a:cubicBezTo>
                    <a:pt x="159385" y="110490"/>
                    <a:pt x="156972" y="116205"/>
                    <a:pt x="152781" y="120523"/>
                  </a:cubicBezTo>
                  <a:lnTo>
                    <a:pt x="120523" y="152781"/>
                  </a:lnTo>
                  <a:cubicBezTo>
                    <a:pt x="116205" y="157099"/>
                    <a:pt x="110490" y="159385"/>
                    <a:pt x="104394" y="159385"/>
                  </a:cubicBezTo>
                  <a:lnTo>
                    <a:pt x="102489" y="159385"/>
                  </a:lnTo>
                  <a:close/>
                </a:path>
              </a:pathLst>
            </a:custGeom>
            <a:solidFill>
              <a:srgbClr val="FD6875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635749" y="5186558"/>
            <a:ext cx="109941" cy="106680"/>
            <a:chOff x="0" y="0"/>
            <a:chExt cx="68713" cy="666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713" cy="66548"/>
            </a:xfrm>
            <a:custGeom>
              <a:avLst/>
              <a:gdLst/>
              <a:ahLst/>
              <a:cxnLst/>
              <a:rect l="l" t="t" r="r" b="b"/>
              <a:pathLst>
                <a:path w="68713" h="66548">
                  <a:moveTo>
                    <a:pt x="68713" y="33274"/>
                  </a:moveTo>
                  <a:cubicBezTo>
                    <a:pt x="68713" y="37719"/>
                    <a:pt x="67797" y="41910"/>
                    <a:pt x="66096" y="45974"/>
                  </a:cubicBezTo>
                  <a:cubicBezTo>
                    <a:pt x="64394" y="50038"/>
                    <a:pt x="61907" y="53721"/>
                    <a:pt x="58635" y="56769"/>
                  </a:cubicBezTo>
                  <a:cubicBezTo>
                    <a:pt x="55363" y="59817"/>
                    <a:pt x="51699" y="62357"/>
                    <a:pt x="47510" y="64008"/>
                  </a:cubicBezTo>
                  <a:cubicBezTo>
                    <a:pt x="43322" y="65659"/>
                    <a:pt x="38872" y="66548"/>
                    <a:pt x="34422" y="66548"/>
                  </a:cubicBezTo>
                  <a:cubicBezTo>
                    <a:pt x="29972" y="66548"/>
                    <a:pt x="25522" y="65659"/>
                    <a:pt x="21334" y="64008"/>
                  </a:cubicBezTo>
                  <a:cubicBezTo>
                    <a:pt x="17146" y="62357"/>
                    <a:pt x="13350" y="59944"/>
                    <a:pt x="10209" y="56769"/>
                  </a:cubicBezTo>
                  <a:cubicBezTo>
                    <a:pt x="7068" y="53594"/>
                    <a:pt x="4319" y="50165"/>
                    <a:pt x="2618" y="46101"/>
                  </a:cubicBezTo>
                  <a:cubicBezTo>
                    <a:pt x="916" y="42037"/>
                    <a:pt x="0" y="37719"/>
                    <a:pt x="0" y="33401"/>
                  </a:cubicBezTo>
                  <a:cubicBezTo>
                    <a:pt x="0" y="29083"/>
                    <a:pt x="916" y="24765"/>
                    <a:pt x="2618" y="20701"/>
                  </a:cubicBezTo>
                  <a:cubicBezTo>
                    <a:pt x="4319" y="16637"/>
                    <a:pt x="6806" y="12827"/>
                    <a:pt x="10078" y="9779"/>
                  </a:cubicBezTo>
                  <a:cubicBezTo>
                    <a:pt x="13350" y="6731"/>
                    <a:pt x="17015" y="4191"/>
                    <a:pt x="21203" y="2540"/>
                  </a:cubicBezTo>
                  <a:cubicBezTo>
                    <a:pt x="25391" y="889"/>
                    <a:pt x="29841" y="0"/>
                    <a:pt x="34291" y="0"/>
                  </a:cubicBezTo>
                  <a:cubicBezTo>
                    <a:pt x="38741" y="0"/>
                    <a:pt x="43191" y="889"/>
                    <a:pt x="47379" y="2540"/>
                  </a:cubicBezTo>
                  <a:cubicBezTo>
                    <a:pt x="51568" y="4191"/>
                    <a:pt x="55363" y="6604"/>
                    <a:pt x="58505" y="9779"/>
                  </a:cubicBezTo>
                  <a:cubicBezTo>
                    <a:pt x="61646" y="12954"/>
                    <a:pt x="64263" y="16510"/>
                    <a:pt x="65965" y="20574"/>
                  </a:cubicBezTo>
                  <a:cubicBezTo>
                    <a:pt x="67666" y="24638"/>
                    <a:pt x="68582" y="28956"/>
                    <a:pt x="68582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635749" y="5750438"/>
            <a:ext cx="109941" cy="106680"/>
            <a:chOff x="0" y="0"/>
            <a:chExt cx="68713" cy="666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713" cy="66548"/>
            </a:xfrm>
            <a:custGeom>
              <a:avLst/>
              <a:gdLst/>
              <a:ahLst/>
              <a:cxnLst/>
              <a:rect l="l" t="t" r="r" b="b"/>
              <a:pathLst>
                <a:path w="68713" h="66548">
                  <a:moveTo>
                    <a:pt x="68713" y="33274"/>
                  </a:moveTo>
                  <a:cubicBezTo>
                    <a:pt x="68713" y="37719"/>
                    <a:pt x="67797" y="41910"/>
                    <a:pt x="66096" y="45974"/>
                  </a:cubicBezTo>
                  <a:cubicBezTo>
                    <a:pt x="64394" y="50038"/>
                    <a:pt x="61907" y="53721"/>
                    <a:pt x="58635" y="56769"/>
                  </a:cubicBezTo>
                  <a:cubicBezTo>
                    <a:pt x="55363" y="59817"/>
                    <a:pt x="51699" y="62357"/>
                    <a:pt x="47510" y="64008"/>
                  </a:cubicBezTo>
                  <a:cubicBezTo>
                    <a:pt x="43322" y="65659"/>
                    <a:pt x="38872" y="66548"/>
                    <a:pt x="34422" y="66548"/>
                  </a:cubicBezTo>
                  <a:cubicBezTo>
                    <a:pt x="29972" y="66548"/>
                    <a:pt x="25522" y="65659"/>
                    <a:pt x="21334" y="64008"/>
                  </a:cubicBezTo>
                  <a:cubicBezTo>
                    <a:pt x="17146" y="62357"/>
                    <a:pt x="13350" y="59944"/>
                    <a:pt x="10209" y="56769"/>
                  </a:cubicBezTo>
                  <a:cubicBezTo>
                    <a:pt x="7068" y="53594"/>
                    <a:pt x="4319" y="50165"/>
                    <a:pt x="2618" y="46101"/>
                  </a:cubicBezTo>
                  <a:cubicBezTo>
                    <a:pt x="916" y="42037"/>
                    <a:pt x="0" y="37719"/>
                    <a:pt x="0" y="33401"/>
                  </a:cubicBezTo>
                  <a:cubicBezTo>
                    <a:pt x="0" y="29083"/>
                    <a:pt x="916" y="24765"/>
                    <a:pt x="2618" y="20701"/>
                  </a:cubicBezTo>
                  <a:cubicBezTo>
                    <a:pt x="4319" y="16637"/>
                    <a:pt x="6806" y="12827"/>
                    <a:pt x="10078" y="9779"/>
                  </a:cubicBezTo>
                  <a:cubicBezTo>
                    <a:pt x="13350" y="6731"/>
                    <a:pt x="17015" y="4191"/>
                    <a:pt x="21203" y="2540"/>
                  </a:cubicBezTo>
                  <a:cubicBezTo>
                    <a:pt x="25391" y="889"/>
                    <a:pt x="29841" y="0"/>
                    <a:pt x="34291" y="0"/>
                  </a:cubicBezTo>
                  <a:cubicBezTo>
                    <a:pt x="38741" y="0"/>
                    <a:pt x="43191" y="889"/>
                    <a:pt x="47379" y="2540"/>
                  </a:cubicBezTo>
                  <a:cubicBezTo>
                    <a:pt x="51568" y="4191"/>
                    <a:pt x="55363" y="6604"/>
                    <a:pt x="58505" y="9779"/>
                  </a:cubicBezTo>
                  <a:cubicBezTo>
                    <a:pt x="61646" y="12954"/>
                    <a:pt x="64263" y="16510"/>
                    <a:pt x="65965" y="20574"/>
                  </a:cubicBezTo>
                  <a:cubicBezTo>
                    <a:pt x="67666" y="24638"/>
                    <a:pt x="68582" y="28956"/>
                    <a:pt x="68582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35749" y="6314318"/>
            <a:ext cx="109941" cy="106680"/>
            <a:chOff x="0" y="0"/>
            <a:chExt cx="68713" cy="666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713" cy="66548"/>
            </a:xfrm>
            <a:custGeom>
              <a:avLst/>
              <a:gdLst/>
              <a:ahLst/>
              <a:cxnLst/>
              <a:rect l="l" t="t" r="r" b="b"/>
              <a:pathLst>
                <a:path w="68713" h="66548">
                  <a:moveTo>
                    <a:pt x="68713" y="33274"/>
                  </a:moveTo>
                  <a:cubicBezTo>
                    <a:pt x="68713" y="37719"/>
                    <a:pt x="67797" y="41910"/>
                    <a:pt x="66096" y="45974"/>
                  </a:cubicBezTo>
                  <a:cubicBezTo>
                    <a:pt x="64394" y="50038"/>
                    <a:pt x="61907" y="53721"/>
                    <a:pt x="58635" y="56769"/>
                  </a:cubicBezTo>
                  <a:cubicBezTo>
                    <a:pt x="55363" y="59817"/>
                    <a:pt x="51699" y="62357"/>
                    <a:pt x="47510" y="64008"/>
                  </a:cubicBezTo>
                  <a:cubicBezTo>
                    <a:pt x="43322" y="65659"/>
                    <a:pt x="38872" y="66548"/>
                    <a:pt x="34422" y="66548"/>
                  </a:cubicBezTo>
                  <a:cubicBezTo>
                    <a:pt x="29972" y="66548"/>
                    <a:pt x="25522" y="65659"/>
                    <a:pt x="21334" y="64008"/>
                  </a:cubicBezTo>
                  <a:cubicBezTo>
                    <a:pt x="17146" y="62357"/>
                    <a:pt x="13350" y="59944"/>
                    <a:pt x="10209" y="56769"/>
                  </a:cubicBezTo>
                  <a:cubicBezTo>
                    <a:pt x="7068" y="53594"/>
                    <a:pt x="4319" y="50165"/>
                    <a:pt x="2618" y="46101"/>
                  </a:cubicBezTo>
                  <a:cubicBezTo>
                    <a:pt x="916" y="42037"/>
                    <a:pt x="0" y="37719"/>
                    <a:pt x="0" y="33401"/>
                  </a:cubicBezTo>
                  <a:cubicBezTo>
                    <a:pt x="0" y="29083"/>
                    <a:pt x="916" y="24765"/>
                    <a:pt x="2618" y="20701"/>
                  </a:cubicBezTo>
                  <a:cubicBezTo>
                    <a:pt x="4319" y="16637"/>
                    <a:pt x="6806" y="12827"/>
                    <a:pt x="10078" y="9779"/>
                  </a:cubicBezTo>
                  <a:cubicBezTo>
                    <a:pt x="13350" y="6731"/>
                    <a:pt x="17015" y="4191"/>
                    <a:pt x="21203" y="2540"/>
                  </a:cubicBezTo>
                  <a:cubicBezTo>
                    <a:pt x="25391" y="889"/>
                    <a:pt x="29841" y="0"/>
                    <a:pt x="34291" y="0"/>
                  </a:cubicBezTo>
                  <a:cubicBezTo>
                    <a:pt x="38741" y="0"/>
                    <a:pt x="43191" y="889"/>
                    <a:pt x="47379" y="2540"/>
                  </a:cubicBezTo>
                  <a:cubicBezTo>
                    <a:pt x="51568" y="4191"/>
                    <a:pt x="55363" y="6604"/>
                    <a:pt x="58505" y="9779"/>
                  </a:cubicBezTo>
                  <a:cubicBezTo>
                    <a:pt x="61646" y="12954"/>
                    <a:pt x="64263" y="16510"/>
                    <a:pt x="65965" y="20574"/>
                  </a:cubicBezTo>
                  <a:cubicBezTo>
                    <a:pt x="67666" y="24638"/>
                    <a:pt x="68582" y="28956"/>
                    <a:pt x="68582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84857" y="4211151"/>
            <a:ext cx="5460836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Current Integration Capabilities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0982" y="1454534"/>
            <a:ext cx="9612393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Show future readiness</a:t>
            </a: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Integration &amp; Scalability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99504" y="4431453"/>
            <a:ext cx="3209151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Future Capabilities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3860" y="3049705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67815" y="4962325"/>
            <a:ext cx="6681567" cy="2745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API-first architecture Secure links to internal systems (HRMIS, Traffic </a:t>
            </a:r>
          </a:p>
          <a:p>
            <a:pPr algn="l">
              <a:lnSpc>
                <a:spcPts val="264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systems)</a:t>
            </a:r>
          </a:p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GIS and mapping integrations</a:t>
            </a:r>
          </a:p>
          <a:p>
            <a:pPr algn="l">
              <a:lnSpc>
                <a:spcPts val="3143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Social media and external data feeds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0135" y="3287830"/>
            <a:ext cx="8670585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platform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is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designed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as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an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integration-ready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ecosystem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7393" y="8515150"/>
            <a:ext cx="8461035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This ensures 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long-term scalability without re-engineering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80767" y="4971850"/>
            <a:ext cx="4091117" cy="170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Payment gateway integration Expansion of e-services Data-driven dashboards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8995" y="4124841"/>
            <a:ext cx="8204195" cy="3616955"/>
          </a:xfrm>
          <a:custGeom>
            <a:avLst/>
            <a:gdLst/>
            <a:ahLst/>
            <a:cxnLst/>
            <a:rect l="l" t="t" r="r" b="b"/>
            <a:pathLst>
              <a:path w="8204195" h="3616955">
                <a:moveTo>
                  <a:pt x="0" y="0"/>
                </a:moveTo>
                <a:lnTo>
                  <a:pt x="8204195" y="0"/>
                </a:lnTo>
                <a:lnTo>
                  <a:pt x="8204195" y="3616955"/>
                </a:lnTo>
                <a:lnTo>
                  <a:pt x="0" y="3616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9475" y="7972819"/>
            <a:ext cx="16449035" cy="1437635"/>
            <a:chOff x="0" y="0"/>
            <a:chExt cx="10280650" cy="898525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10153777" cy="771652"/>
            </a:xfrm>
            <a:custGeom>
              <a:avLst/>
              <a:gdLst/>
              <a:ahLst/>
              <a:cxnLst/>
              <a:rect l="l" t="t" r="r" b="b"/>
              <a:pathLst>
                <a:path w="10153777" h="771652">
                  <a:moveTo>
                    <a:pt x="0" y="748792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794"/>
                    <a:pt x="14097" y="1651"/>
                  </a:cubicBezTo>
                  <a:cubicBezTo>
                    <a:pt x="16891" y="508"/>
                    <a:pt x="19812" y="0"/>
                    <a:pt x="22733" y="0"/>
                  </a:cubicBezTo>
                  <a:lnTo>
                    <a:pt x="10130917" y="0"/>
                  </a:lnTo>
                  <a:cubicBezTo>
                    <a:pt x="10133965" y="0"/>
                    <a:pt x="10136886" y="635"/>
                    <a:pt x="10139680" y="1778"/>
                  </a:cubicBezTo>
                  <a:cubicBezTo>
                    <a:pt x="10142474" y="2921"/>
                    <a:pt x="10144887" y="4572"/>
                    <a:pt x="10147047" y="6731"/>
                  </a:cubicBezTo>
                  <a:cubicBezTo>
                    <a:pt x="10149205" y="8890"/>
                    <a:pt x="10150856" y="11303"/>
                    <a:pt x="10151999" y="14097"/>
                  </a:cubicBezTo>
                  <a:cubicBezTo>
                    <a:pt x="10153142" y="16891"/>
                    <a:pt x="10153777" y="19812"/>
                    <a:pt x="10153777" y="22860"/>
                  </a:cubicBezTo>
                  <a:lnTo>
                    <a:pt x="10153777" y="748792"/>
                  </a:lnTo>
                  <a:cubicBezTo>
                    <a:pt x="10153777" y="751840"/>
                    <a:pt x="10153142" y="754761"/>
                    <a:pt x="10151999" y="757555"/>
                  </a:cubicBezTo>
                  <a:cubicBezTo>
                    <a:pt x="10150856" y="760349"/>
                    <a:pt x="10149205" y="762762"/>
                    <a:pt x="10147047" y="764921"/>
                  </a:cubicBezTo>
                  <a:cubicBezTo>
                    <a:pt x="10144887" y="767080"/>
                    <a:pt x="10142474" y="768731"/>
                    <a:pt x="10139680" y="769874"/>
                  </a:cubicBezTo>
                  <a:cubicBezTo>
                    <a:pt x="10136886" y="771017"/>
                    <a:pt x="10133965" y="771652"/>
                    <a:pt x="10130917" y="771652"/>
                  </a:cubicBezTo>
                  <a:lnTo>
                    <a:pt x="22733" y="771652"/>
                  </a:lnTo>
                  <a:cubicBezTo>
                    <a:pt x="19685" y="771652"/>
                    <a:pt x="16764" y="771017"/>
                    <a:pt x="13970" y="769874"/>
                  </a:cubicBezTo>
                  <a:cubicBezTo>
                    <a:pt x="11176" y="768731"/>
                    <a:pt x="8763" y="767080"/>
                    <a:pt x="6604" y="764921"/>
                  </a:cubicBezTo>
                  <a:cubicBezTo>
                    <a:pt x="4445" y="762762"/>
                    <a:pt x="2794" y="760349"/>
                    <a:pt x="1651" y="757555"/>
                  </a:cubicBezTo>
                  <a:cubicBezTo>
                    <a:pt x="508" y="754761"/>
                    <a:pt x="0" y="751713"/>
                    <a:pt x="0" y="748792"/>
                  </a:cubicBezTo>
                  <a:close/>
                </a:path>
              </a:pathLst>
            </a:custGeom>
            <a:solidFill>
              <a:srgbClr val="4C0107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78638" y="322580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5" h="159385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733"/>
                  </a:lnTo>
                  <a:cubicBezTo>
                    <a:pt x="142367" y="19558"/>
                    <a:pt x="139827" y="17018"/>
                    <a:pt x="136652" y="17018"/>
                  </a:cubicBezTo>
                  <a:lnTo>
                    <a:pt x="22733" y="17018"/>
                  </a:lnTo>
                  <a:close/>
                  <a:moveTo>
                    <a:pt x="102489" y="159385"/>
                  </a:moveTo>
                  <a:lnTo>
                    <a:pt x="22733" y="159385"/>
                  </a:lnTo>
                  <a:cubicBezTo>
                    <a:pt x="10160" y="159385"/>
                    <a:pt x="0" y="149225"/>
                    <a:pt x="0" y="136652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652" y="0"/>
                  </a:lnTo>
                  <a:cubicBezTo>
                    <a:pt x="149225" y="0"/>
                    <a:pt x="159385" y="10160"/>
                    <a:pt x="159385" y="22733"/>
                  </a:cubicBezTo>
                  <a:lnTo>
                    <a:pt x="159385" y="102489"/>
                  </a:lnTo>
                  <a:lnTo>
                    <a:pt x="159385" y="104394"/>
                  </a:lnTo>
                  <a:cubicBezTo>
                    <a:pt x="159385" y="110490"/>
                    <a:pt x="156972" y="116205"/>
                    <a:pt x="152781" y="120523"/>
                  </a:cubicBezTo>
                  <a:lnTo>
                    <a:pt x="120523" y="152781"/>
                  </a:lnTo>
                  <a:cubicBezTo>
                    <a:pt x="116205" y="157099"/>
                    <a:pt x="110490" y="159385"/>
                    <a:pt x="104394" y="159385"/>
                  </a:cubicBezTo>
                  <a:lnTo>
                    <a:pt x="102489" y="159385"/>
                  </a:lnTo>
                  <a:close/>
                </a:path>
              </a:pathLst>
            </a:custGeom>
            <a:solidFill>
              <a:srgbClr val="FD6875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9164315" y="4124841"/>
            <a:ext cx="8204195" cy="3616955"/>
          </a:xfrm>
          <a:custGeom>
            <a:avLst/>
            <a:gdLst/>
            <a:ahLst/>
            <a:cxnLst/>
            <a:rect l="l" t="t" r="r" b="b"/>
            <a:pathLst>
              <a:path w="8204195" h="3616955">
                <a:moveTo>
                  <a:pt x="0" y="0"/>
                </a:moveTo>
                <a:lnTo>
                  <a:pt x="8204195" y="0"/>
                </a:lnTo>
                <a:lnTo>
                  <a:pt x="8204195" y="3616955"/>
                </a:lnTo>
                <a:lnTo>
                  <a:pt x="0" y="3616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33520" y="4544842"/>
            <a:ext cx="3803965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Security Standards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339" y="1622174"/>
            <a:ext cx="13622749" cy="1442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Address risk &amp; governance</a:t>
            </a:r>
          </a:p>
          <a:p>
            <a:pPr>
              <a:lnSpc>
                <a:spcPts val="3779"/>
              </a:lnSpc>
            </a:pPr>
            <a:endParaRPr lang="en-US" sz="2700" dirty="0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2700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Security, Compliance &amp; Quality Assurance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03125" y="4544842"/>
            <a:ext cx="5197483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Quality Assurance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5137" y="3217345"/>
            <a:ext cx="74310" cy="68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9529" y="5063290"/>
            <a:ext cx="4648337" cy="224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OWASP Top 10 compliance Multi-factor authentication (MFA) Role-based access control (RBAC) HTTPS/TLS encryption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0135" y="3455470"/>
            <a:ext cx="6384524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Security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and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quality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are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embedded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by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design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7393" y="8362750"/>
            <a:ext cx="8599642" cy="47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Outcome:</a:t>
            </a:r>
            <a:r>
              <a:rPr lang="en-US" sz="229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229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Enterprise-grade reliability and data protection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69134" y="5149015"/>
            <a:ext cx="6143335" cy="1492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Three-tier testing (Functional, Performance, Security)</a:t>
            </a:r>
          </a:p>
          <a:p>
            <a:pPr algn="l">
              <a:lnSpc>
                <a:spcPts val="5279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CI/CD pipelines for continuous validation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65497" y="-99503"/>
            <a:ext cx="11556997" cy="11118847"/>
            <a:chOff x="0" y="0"/>
            <a:chExt cx="11557000" cy="1111885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10991850"/>
            </a:xfrm>
            <a:custGeom>
              <a:avLst/>
              <a:gdLst/>
              <a:ahLst/>
              <a:cxnLst/>
              <a:rect l="l" t="t" r="r" b="b"/>
              <a:pathLst>
                <a:path w="11430000" h="10991850">
                  <a:moveTo>
                    <a:pt x="0" y="0"/>
                  </a:moveTo>
                  <a:lnTo>
                    <a:pt x="11430000" y="0"/>
                  </a:lnTo>
                  <a:lnTo>
                    <a:pt x="11430000" y="10991850"/>
                  </a:lnTo>
                  <a:lnTo>
                    <a:pt x="0" y="1099185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10991850"/>
            </a:xfrm>
            <a:custGeom>
              <a:avLst/>
              <a:gdLst/>
              <a:ahLst/>
              <a:cxnLst/>
              <a:rect l="l" t="t" r="r" b="b"/>
              <a:pathLst>
                <a:path w="11430000" h="10991850">
                  <a:moveTo>
                    <a:pt x="0" y="0"/>
                  </a:moveTo>
                  <a:lnTo>
                    <a:pt x="11430000" y="0"/>
                  </a:lnTo>
                  <a:lnTo>
                    <a:pt x="11430000" y="10991850"/>
                  </a:lnTo>
                  <a:lnTo>
                    <a:pt x="0" y="10991850"/>
                  </a:lnTo>
                  <a:close/>
                </a:path>
              </a:pathLst>
            </a:custGeom>
            <a:solidFill>
              <a:srgbClr val="271C4E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10991850"/>
            </a:xfrm>
            <a:custGeom>
              <a:avLst/>
              <a:gdLst/>
              <a:ahLst/>
              <a:cxnLst/>
              <a:rect l="l" t="t" r="r" b="b"/>
              <a:pathLst>
                <a:path w="11430000" h="10991850">
                  <a:moveTo>
                    <a:pt x="0" y="0"/>
                  </a:moveTo>
                  <a:lnTo>
                    <a:pt x="11430000" y="0"/>
                  </a:lnTo>
                  <a:lnTo>
                    <a:pt x="11430000" y="10991850"/>
                  </a:lnTo>
                  <a:lnTo>
                    <a:pt x="0" y="10991850"/>
                  </a:lnTo>
                  <a:close/>
                </a:path>
              </a:pathLst>
            </a:custGeom>
            <a:solidFill>
              <a:srgbClr val="271C4E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10991850"/>
            </a:xfrm>
            <a:custGeom>
              <a:avLst/>
              <a:gdLst/>
              <a:ahLst/>
              <a:cxnLst/>
              <a:rect l="l" t="t" r="r" b="b"/>
              <a:pathLst>
                <a:path w="11430000" h="10991850">
                  <a:moveTo>
                    <a:pt x="0" y="0"/>
                  </a:moveTo>
                  <a:lnTo>
                    <a:pt x="11430000" y="0"/>
                  </a:lnTo>
                  <a:lnTo>
                    <a:pt x="11430000" y="10991850"/>
                  </a:lnTo>
                  <a:lnTo>
                    <a:pt x="0" y="10991850"/>
                  </a:lnTo>
                  <a:close/>
                </a:path>
              </a:pathLst>
            </a:custGeom>
            <a:solidFill>
              <a:srgbClr val="100C3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01675" y="2206625"/>
              <a:ext cx="910844" cy="1092962"/>
            </a:xfrm>
            <a:custGeom>
              <a:avLst/>
              <a:gdLst/>
              <a:ahLst/>
              <a:cxnLst/>
              <a:rect l="l" t="t" r="r" b="b"/>
              <a:pathLst>
                <a:path w="910844" h="1092962">
                  <a:moveTo>
                    <a:pt x="0" y="910844"/>
                  </a:moveTo>
                  <a:lnTo>
                    <a:pt x="455422" y="1092962"/>
                  </a:lnTo>
                  <a:lnTo>
                    <a:pt x="910844" y="910844"/>
                  </a:lnTo>
                  <a:lnTo>
                    <a:pt x="910844" y="0"/>
                  </a:lnTo>
                  <a:lnTo>
                    <a:pt x="455422" y="182118"/>
                  </a:lnTo>
                  <a:lnTo>
                    <a:pt x="0" y="0"/>
                  </a:lnTo>
                  <a:lnTo>
                    <a:pt x="0" y="910844"/>
                  </a:ln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01675" y="3302000"/>
              <a:ext cx="910844" cy="1092962"/>
            </a:xfrm>
            <a:custGeom>
              <a:avLst/>
              <a:gdLst/>
              <a:ahLst/>
              <a:cxnLst/>
              <a:rect l="l" t="t" r="r" b="b"/>
              <a:pathLst>
                <a:path w="910844" h="1092962">
                  <a:moveTo>
                    <a:pt x="0" y="910844"/>
                  </a:moveTo>
                  <a:lnTo>
                    <a:pt x="455422" y="1092962"/>
                  </a:lnTo>
                  <a:lnTo>
                    <a:pt x="910844" y="910844"/>
                  </a:lnTo>
                  <a:lnTo>
                    <a:pt x="910844" y="0"/>
                  </a:lnTo>
                  <a:lnTo>
                    <a:pt x="455422" y="182118"/>
                  </a:lnTo>
                  <a:lnTo>
                    <a:pt x="0" y="0"/>
                  </a:lnTo>
                  <a:lnTo>
                    <a:pt x="0" y="910844"/>
                  </a:ln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701675" y="4397375"/>
              <a:ext cx="910844" cy="1092962"/>
            </a:xfrm>
            <a:custGeom>
              <a:avLst/>
              <a:gdLst/>
              <a:ahLst/>
              <a:cxnLst/>
              <a:rect l="l" t="t" r="r" b="b"/>
              <a:pathLst>
                <a:path w="910844" h="1092962">
                  <a:moveTo>
                    <a:pt x="0" y="910844"/>
                  </a:moveTo>
                  <a:lnTo>
                    <a:pt x="455422" y="1092962"/>
                  </a:lnTo>
                  <a:lnTo>
                    <a:pt x="910844" y="910844"/>
                  </a:lnTo>
                  <a:lnTo>
                    <a:pt x="910844" y="0"/>
                  </a:lnTo>
                  <a:lnTo>
                    <a:pt x="455422" y="182118"/>
                  </a:lnTo>
                  <a:lnTo>
                    <a:pt x="0" y="0"/>
                  </a:lnTo>
                  <a:lnTo>
                    <a:pt x="0" y="910844"/>
                  </a:ln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701675" y="5492750"/>
              <a:ext cx="910844" cy="1092962"/>
            </a:xfrm>
            <a:custGeom>
              <a:avLst/>
              <a:gdLst/>
              <a:ahLst/>
              <a:cxnLst/>
              <a:rect l="l" t="t" r="r" b="b"/>
              <a:pathLst>
                <a:path w="910844" h="1092962">
                  <a:moveTo>
                    <a:pt x="0" y="910844"/>
                  </a:moveTo>
                  <a:lnTo>
                    <a:pt x="455422" y="1092962"/>
                  </a:lnTo>
                  <a:lnTo>
                    <a:pt x="910844" y="910844"/>
                  </a:lnTo>
                  <a:lnTo>
                    <a:pt x="910844" y="0"/>
                  </a:lnTo>
                  <a:lnTo>
                    <a:pt x="455422" y="182118"/>
                  </a:lnTo>
                  <a:lnTo>
                    <a:pt x="0" y="0"/>
                  </a:lnTo>
                  <a:lnTo>
                    <a:pt x="0" y="910844"/>
                  </a:ln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701675" y="6578600"/>
              <a:ext cx="910844" cy="1092962"/>
            </a:xfrm>
            <a:custGeom>
              <a:avLst/>
              <a:gdLst/>
              <a:ahLst/>
              <a:cxnLst/>
              <a:rect l="l" t="t" r="r" b="b"/>
              <a:pathLst>
                <a:path w="910844" h="1092962">
                  <a:moveTo>
                    <a:pt x="0" y="910844"/>
                  </a:moveTo>
                  <a:lnTo>
                    <a:pt x="455422" y="1092962"/>
                  </a:lnTo>
                  <a:lnTo>
                    <a:pt x="910844" y="910844"/>
                  </a:lnTo>
                  <a:lnTo>
                    <a:pt x="910844" y="0"/>
                  </a:lnTo>
                  <a:lnTo>
                    <a:pt x="455422" y="182118"/>
                  </a:lnTo>
                  <a:lnTo>
                    <a:pt x="0" y="0"/>
                  </a:lnTo>
                  <a:lnTo>
                    <a:pt x="0" y="910844"/>
                  </a:lnTo>
                  <a:close/>
                </a:path>
              </a:pathLst>
            </a:custGeom>
            <a:solidFill>
              <a:srgbClr val="2F2B5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5883148" y="7883398"/>
              <a:ext cx="5115179" cy="1695704"/>
            </a:xfrm>
            <a:custGeom>
              <a:avLst/>
              <a:gdLst/>
              <a:ahLst/>
              <a:cxnLst/>
              <a:rect l="l" t="t" r="r" b="b"/>
              <a:pathLst>
                <a:path w="5115179" h="1695704">
                  <a:moveTo>
                    <a:pt x="127" y="1672844"/>
                  </a:move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0"/>
                  </a:cubicBez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5092319" y="0"/>
                  </a:lnTo>
                  <a:cubicBezTo>
                    <a:pt x="5095367" y="0"/>
                    <a:pt x="5098288" y="635"/>
                    <a:pt x="5101082" y="1778"/>
                  </a:cubicBezTo>
                  <a:cubicBezTo>
                    <a:pt x="5103876" y="2921"/>
                    <a:pt x="5106289" y="4572"/>
                    <a:pt x="5108449" y="6730"/>
                  </a:cubicBezTo>
                  <a:cubicBezTo>
                    <a:pt x="5110607" y="8890"/>
                    <a:pt x="5112258" y="11303"/>
                    <a:pt x="5113401" y="14097"/>
                  </a:cubicBezTo>
                  <a:cubicBezTo>
                    <a:pt x="5114544" y="16891"/>
                    <a:pt x="5115179" y="19812"/>
                    <a:pt x="5115179" y="22860"/>
                  </a:cubicBezTo>
                  <a:lnTo>
                    <a:pt x="5115179" y="1672844"/>
                  </a:lnTo>
                  <a:cubicBezTo>
                    <a:pt x="5115179" y="1675892"/>
                    <a:pt x="5114544" y="1678813"/>
                    <a:pt x="5113401" y="1681607"/>
                  </a:cubicBezTo>
                  <a:cubicBezTo>
                    <a:pt x="5112258" y="1684401"/>
                    <a:pt x="5110607" y="1686814"/>
                    <a:pt x="5108449" y="1688974"/>
                  </a:cubicBezTo>
                  <a:cubicBezTo>
                    <a:pt x="5106289" y="1691132"/>
                    <a:pt x="5103876" y="1692783"/>
                    <a:pt x="5101082" y="1693926"/>
                  </a:cubicBezTo>
                  <a:cubicBezTo>
                    <a:pt x="5098288" y="1695069"/>
                    <a:pt x="5095367" y="1695704"/>
                    <a:pt x="5092319" y="1695704"/>
                  </a:cubicBezTo>
                  <a:lnTo>
                    <a:pt x="22860" y="1695704"/>
                  </a:lnTo>
                  <a:cubicBezTo>
                    <a:pt x="19812" y="1695704"/>
                    <a:pt x="16891" y="1695069"/>
                    <a:pt x="14097" y="1693926"/>
                  </a:cubicBezTo>
                  <a:cubicBezTo>
                    <a:pt x="11303" y="1692783"/>
                    <a:pt x="8890" y="1691132"/>
                    <a:pt x="6731" y="1688974"/>
                  </a:cubicBezTo>
                  <a:cubicBezTo>
                    <a:pt x="4572" y="1686814"/>
                    <a:pt x="2921" y="1684401"/>
                    <a:pt x="1778" y="1681607"/>
                  </a:cubicBezTo>
                  <a:cubicBezTo>
                    <a:pt x="635" y="1678813"/>
                    <a:pt x="0" y="1675892"/>
                    <a:pt x="0" y="1672844"/>
                  </a:cubicBezTo>
                  <a:close/>
                </a:path>
              </a:pathLst>
            </a:custGeom>
            <a:solidFill>
              <a:srgbClr val="1B174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6083427" y="8597900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083427" y="895045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083427" y="9312402"/>
              <a:ext cx="66548" cy="66548"/>
            </a:xfrm>
            <a:custGeom>
              <a:avLst/>
              <a:gdLst/>
              <a:ahLst/>
              <a:cxnLst/>
              <a:rect l="l" t="t" r="r" b="b"/>
              <a:pathLst>
                <a:path w="66548" h="66548">
                  <a:moveTo>
                    <a:pt x="66548" y="33274"/>
                  </a:moveTo>
                  <a:cubicBezTo>
                    <a:pt x="66548" y="37719"/>
                    <a:pt x="65659" y="41910"/>
                    <a:pt x="64008" y="45974"/>
                  </a:cubicBezTo>
                  <a:cubicBezTo>
                    <a:pt x="62357" y="50038"/>
                    <a:pt x="59944" y="53721"/>
                    <a:pt x="56769" y="56769"/>
                  </a:cubicBezTo>
                  <a:cubicBezTo>
                    <a:pt x="53594" y="59817"/>
                    <a:pt x="50038" y="62357"/>
                    <a:pt x="45974" y="64008"/>
                  </a:cubicBezTo>
                  <a:cubicBezTo>
                    <a:pt x="41910" y="65659"/>
                    <a:pt x="37592" y="66548"/>
                    <a:pt x="33274" y="66548"/>
                  </a:cubicBezTo>
                  <a:cubicBezTo>
                    <a:pt x="28956" y="66548"/>
                    <a:pt x="24638" y="65659"/>
                    <a:pt x="20574" y="64008"/>
                  </a:cubicBezTo>
                  <a:cubicBezTo>
                    <a:pt x="16510" y="62357"/>
                    <a:pt x="12827" y="59944"/>
                    <a:pt x="9779" y="56769"/>
                  </a:cubicBezTo>
                  <a:cubicBezTo>
                    <a:pt x="6731" y="53594"/>
                    <a:pt x="4191" y="50038"/>
                    <a:pt x="2540" y="45974"/>
                  </a:cubicBezTo>
                  <a:cubicBezTo>
                    <a:pt x="889" y="41910"/>
                    <a:pt x="0" y="37592"/>
                    <a:pt x="0" y="33274"/>
                  </a:cubicBezTo>
                  <a:cubicBezTo>
                    <a:pt x="0" y="28956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D9E1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01548" y="9778873"/>
              <a:ext cx="10153904" cy="781177"/>
            </a:xfrm>
            <a:custGeom>
              <a:avLst/>
              <a:gdLst/>
              <a:ahLst/>
              <a:cxnLst/>
              <a:rect l="l" t="t" r="r" b="b"/>
              <a:pathLst>
                <a:path w="10153904" h="781177">
                  <a:moveTo>
                    <a:pt x="127" y="758444"/>
                  </a:move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0"/>
                  </a:cubicBez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10131044" y="0"/>
                  </a:lnTo>
                  <a:cubicBezTo>
                    <a:pt x="10134092" y="0"/>
                    <a:pt x="10137013" y="635"/>
                    <a:pt x="10139807" y="1778"/>
                  </a:cubicBezTo>
                  <a:cubicBezTo>
                    <a:pt x="10142601" y="2921"/>
                    <a:pt x="10145014" y="4572"/>
                    <a:pt x="10147174" y="6730"/>
                  </a:cubicBezTo>
                  <a:cubicBezTo>
                    <a:pt x="10149332" y="8890"/>
                    <a:pt x="10150983" y="11303"/>
                    <a:pt x="10152126" y="14097"/>
                  </a:cubicBezTo>
                  <a:cubicBezTo>
                    <a:pt x="10153269" y="16891"/>
                    <a:pt x="10153904" y="19812"/>
                    <a:pt x="10153904" y="22860"/>
                  </a:cubicBezTo>
                  <a:lnTo>
                    <a:pt x="10153904" y="758316"/>
                  </a:lnTo>
                  <a:cubicBezTo>
                    <a:pt x="10153904" y="761365"/>
                    <a:pt x="10153269" y="764286"/>
                    <a:pt x="10152126" y="767079"/>
                  </a:cubicBezTo>
                  <a:cubicBezTo>
                    <a:pt x="10150983" y="769874"/>
                    <a:pt x="10149332" y="772287"/>
                    <a:pt x="10147174" y="774446"/>
                  </a:cubicBezTo>
                  <a:cubicBezTo>
                    <a:pt x="10145014" y="776604"/>
                    <a:pt x="10142601" y="778255"/>
                    <a:pt x="10139807" y="779399"/>
                  </a:cubicBezTo>
                  <a:cubicBezTo>
                    <a:pt x="10137013" y="780541"/>
                    <a:pt x="10134092" y="781177"/>
                    <a:pt x="10131044" y="781177"/>
                  </a:cubicBezTo>
                  <a:lnTo>
                    <a:pt x="22860" y="781177"/>
                  </a:lnTo>
                  <a:cubicBezTo>
                    <a:pt x="19812" y="781177"/>
                    <a:pt x="16891" y="780541"/>
                    <a:pt x="14097" y="779399"/>
                  </a:cubicBezTo>
                  <a:cubicBezTo>
                    <a:pt x="11303" y="778255"/>
                    <a:pt x="8890" y="776604"/>
                    <a:pt x="6731" y="774446"/>
                  </a:cubicBezTo>
                  <a:cubicBezTo>
                    <a:pt x="4572" y="772287"/>
                    <a:pt x="2921" y="769874"/>
                    <a:pt x="1778" y="767079"/>
                  </a:cubicBezTo>
                  <a:cubicBezTo>
                    <a:pt x="635" y="764286"/>
                    <a:pt x="0" y="761365"/>
                    <a:pt x="0" y="758316"/>
                  </a:cubicBezTo>
                  <a:close/>
                </a:path>
              </a:pathLst>
            </a:custGeom>
            <a:solidFill>
              <a:srgbClr val="4C0107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916813" y="10047605"/>
              <a:ext cx="159258" cy="159386"/>
            </a:xfrm>
            <a:custGeom>
              <a:avLst/>
              <a:gdLst/>
              <a:ahLst/>
              <a:cxnLst/>
              <a:rect l="l" t="t" r="r" b="b"/>
              <a:pathLst>
                <a:path w="159258" h="159386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606"/>
                  </a:lnTo>
                  <a:cubicBezTo>
                    <a:pt x="142367" y="19431"/>
                    <a:pt x="139827" y="16891"/>
                    <a:pt x="136652" y="16891"/>
                  </a:cubicBezTo>
                  <a:lnTo>
                    <a:pt x="22733" y="16891"/>
                  </a:lnTo>
                  <a:close/>
                  <a:moveTo>
                    <a:pt x="102489" y="159258"/>
                  </a:moveTo>
                  <a:lnTo>
                    <a:pt x="22733" y="159258"/>
                  </a:lnTo>
                  <a:cubicBezTo>
                    <a:pt x="10160" y="159258"/>
                    <a:pt x="0" y="149098"/>
                    <a:pt x="0" y="136525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525" y="0"/>
                  </a:lnTo>
                  <a:cubicBezTo>
                    <a:pt x="149098" y="0"/>
                    <a:pt x="159258" y="10160"/>
                    <a:pt x="159258" y="22733"/>
                  </a:cubicBezTo>
                  <a:lnTo>
                    <a:pt x="159258" y="102489"/>
                  </a:lnTo>
                  <a:lnTo>
                    <a:pt x="159258" y="104394"/>
                  </a:lnTo>
                  <a:cubicBezTo>
                    <a:pt x="159258" y="110490"/>
                    <a:pt x="156845" y="116205"/>
                    <a:pt x="152654" y="120523"/>
                  </a:cubicBezTo>
                  <a:lnTo>
                    <a:pt x="120396" y="152781"/>
                  </a:lnTo>
                  <a:cubicBezTo>
                    <a:pt x="116078" y="157099"/>
                    <a:pt x="110363" y="159385"/>
                    <a:pt x="104267" y="159385"/>
                  </a:cubicBezTo>
                  <a:lnTo>
                    <a:pt x="102362" y="159385"/>
                  </a:lnTo>
                  <a:close/>
                </a:path>
              </a:pathLst>
            </a:custGeom>
            <a:solidFill>
              <a:srgbClr val="FD6875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4066584" y="7960509"/>
            <a:ext cx="3653247" cy="73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Post-Launch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2-month support period with defined SLAs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59578" y="2293134"/>
            <a:ext cx="1825447" cy="65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Phase 1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Discovery &amp; Planning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59578" y="5569734"/>
            <a:ext cx="1247689" cy="65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Phase 4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Testing &amp; UAT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59578" y="4474359"/>
            <a:ext cx="1158554" cy="66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Phase 3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Development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59578" y="6665109"/>
            <a:ext cx="1929975" cy="65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Phase 5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Deployment &amp; Go-Live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59578" y="3378984"/>
            <a:ext cx="1849022" cy="66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Phase 2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Design &amp; Prototyping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66584" y="464334"/>
            <a:ext cx="8627721" cy="95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1687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Show execution capability</a:t>
            </a:r>
          </a:p>
          <a:p>
            <a:pPr algn="l">
              <a:lnSpc>
                <a:spcPts val="2362"/>
              </a:lnSpc>
            </a:pPr>
            <a:endParaRPr lang="en-US" sz="1687">
              <a:solidFill>
                <a:srgbClr val="FFFFFF"/>
              </a:solidFill>
              <a:latin typeface="ฟ้อนต์"/>
              <a:ea typeface="ฟ้อนต์"/>
              <a:cs typeface="ฟ้อนต์"/>
              <a:sym typeface="ฟ้อนต์"/>
            </a:endParaRPr>
          </a:p>
          <a:p>
            <a:pPr algn="l">
              <a:lnSpc>
                <a:spcPts val="1687"/>
              </a:lnSpc>
            </a:pPr>
            <a:r>
              <a:rPr lang="en-US" sz="3375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Delivery Approach &amp; Timeline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6778" y="7933219"/>
            <a:ext cx="1439708" cy="295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Governance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84680" y="1457744"/>
            <a:ext cx="46444" cy="41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66584" y="1600619"/>
            <a:ext cx="4545635" cy="29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Structured</a:t>
            </a:r>
            <a:r>
              <a:rPr lang="en-US" sz="143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delivery</a:t>
            </a:r>
            <a:r>
              <a:rPr lang="en-US" sz="143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 </a:t>
            </a: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over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143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16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143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weeks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143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across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143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5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 </a:t>
            </a:r>
            <a:r>
              <a:rPr lang="en-US" sz="143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phases</a:t>
            </a: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8620" y="9896894"/>
            <a:ext cx="5073872" cy="294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FFFF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Ensures </a:t>
            </a:r>
            <a:r>
              <a:rPr lang="en-US" sz="1434" b="1">
                <a:solidFill>
                  <a:srgbClr val="FFFF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on-time, controlled delivery with transparency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8034" y="8325269"/>
            <a:ext cx="2346017" cy="106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143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Dedicated Project Manager Weekly status tracking Milestone-based approvals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47727" y="5737508"/>
            <a:ext cx="151305" cy="39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51004" y="4642133"/>
            <a:ext cx="144618" cy="39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51594" y="6823358"/>
            <a:ext cx="143504" cy="39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52347" y="3546758"/>
            <a:ext cx="141827" cy="39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78388" y="2451383"/>
            <a:ext cx="88887" cy="395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1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1</a:t>
            </a:r>
          </a:p>
        </p:txBody>
      </p:sp>
      <p:sp>
        <p:nvSpPr>
          <p:cNvPr id="35" name="Freeform 35"/>
          <p:cNvSpPr/>
          <p:nvPr/>
        </p:nvSpPr>
        <p:spPr>
          <a:xfrm>
            <a:off x="12551200" y="113561"/>
            <a:ext cx="2129841" cy="459222"/>
          </a:xfrm>
          <a:custGeom>
            <a:avLst/>
            <a:gdLst/>
            <a:ahLst/>
            <a:cxnLst/>
            <a:rect l="l" t="t" r="r" b="b"/>
            <a:pathLst>
              <a:path w="2129841" h="459222">
                <a:moveTo>
                  <a:pt x="0" y="0"/>
                </a:moveTo>
                <a:lnTo>
                  <a:pt x="2129841" y="0"/>
                </a:lnTo>
                <a:lnTo>
                  <a:pt x="2129841" y="459222"/>
                </a:lnTo>
                <a:lnTo>
                  <a:pt x="0" y="459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9475" y="8109979"/>
            <a:ext cx="233675" cy="1330955"/>
          </a:xfrm>
          <a:custGeom>
            <a:avLst/>
            <a:gdLst/>
            <a:ahLst/>
            <a:cxnLst/>
            <a:rect l="l" t="t" r="r" b="b"/>
            <a:pathLst>
              <a:path w="233675" h="1330955">
                <a:moveTo>
                  <a:pt x="0" y="0"/>
                </a:moveTo>
                <a:lnTo>
                  <a:pt x="233675" y="0"/>
                </a:lnTo>
                <a:lnTo>
                  <a:pt x="233675" y="1330955"/>
                </a:lnTo>
                <a:lnTo>
                  <a:pt x="0" y="1330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1080" y="4294904"/>
            <a:ext cx="5227320" cy="1432560"/>
            <a:chOff x="0" y="0"/>
            <a:chExt cx="3267075" cy="895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67202" cy="895477"/>
            </a:xfrm>
            <a:custGeom>
              <a:avLst/>
              <a:gdLst/>
              <a:ahLst/>
              <a:cxnLst/>
              <a:rect l="l" t="t" r="r" b="b"/>
              <a:pathLst>
                <a:path w="3267202" h="895477">
                  <a:moveTo>
                    <a:pt x="0" y="872617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921"/>
                    <a:pt x="14097" y="1778"/>
                  </a:cubicBezTo>
                  <a:cubicBezTo>
                    <a:pt x="16891" y="635"/>
                    <a:pt x="19812" y="0"/>
                    <a:pt x="22733" y="0"/>
                  </a:cubicBezTo>
                  <a:lnTo>
                    <a:pt x="3244342" y="0"/>
                  </a:lnTo>
                  <a:cubicBezTo>
                    <a:pt x="3247390" y="0"/>
                    <a:pt x="3250311" y="508"/>
                    <a:pt x="3253105" y="1778"/>
                  </a:cubicBezTo>
                  <a:cubicBezTo>
                    <a:pt x="3255899" y="3048"/>
                    <a:pt x="3258312" y="4572"/>
                    <a:pt x="3260471" y="6731"/>
                  </a:cubicBezTo>
                  <a:cubicBezTo>
                    <a:pt x="3262630" y="8890"/>
                    <a:pt x="3264281" y="11303"/>
                    <a:pt x="3265424" y="14097"/>
                  </a:cubicBezTo>
                  <a:cubicBezTo>
                    <a:pt x="3266567" y="16891"/>
                    <a:pt x="3267202" y="19812"/>
                    <a:pt x="3267202" y="22860"/>
                  </a:cubicBezTo>
                  <a:lnTo>
                    <a:pt x="3267202" y="872617"/>
                  </a:lnTo>
                  <a:cubicBezTo>
                    <a:pt x="3267202" y="875665"/>
                    <a:pt x="3266567" y="878586"/>
                    <a:pt x="3265424" y="881380"/>
                  </a:cubicBezTo>
                  <a:cubicBezTo>
                    <a:pt x="3264281" y="884174"/>
                    <a:pt x="3262630" y="886587"/>
                    <a:pt x="3260471" y="888746"/>
                  </a:cubicBezTo>
                  <a:cubicBezTo>
                    <a:pt x="3258312" y="890905"/>
                    <a:pt x="3255899" y="892556"/>
                    <a:pt x="3253105" y="893699"/>
                  </a:cubicBezTo>
                  <a:cubicBezTo>
                    <a:pt x="3250311" y="894842"/>
                    <a:pt x="3247390" y="895477"/>
                    <a:pt x="3244342" y="895477"/>
                  </a:cubicBezTo>
                  <a:lnTo>
                    <a:pt x="22733" y="895477"/>
                  </a:lnTo>
                  <a:cubicBezTo>
                    <a:pt x="19685" y="895477"/>
                    <a:pt x="16764" y="894842"/>
                    <a:pt x="13970" y="893699"/>
                  </a:cubicBezTo>
                  <a:cubicBezTo>
                    <a:pt x="11176" y="892556"/>
                    <a:pt x="8763" y="890905"/>
                    <a:pt x="6604" y="888746"/>
                  </a:cubicBezTo>
                  <a:cubicBezTo>
                    <a:pt x="4445" y="886587"/>
                    <a:pt x="2794" y="884174"/>
                    <a:pt x="1651" y="881380"/>
                  </a:cubicBezTo>
                  <a:cubicBezTo>
                    <a:pt x="508" y="878586"/>
                    <a:pt x="0" y="875538"/>
                    <a:pt x="0" y="872617"/>
                  </a:cubicBezTo>
                </a:path>
              </a:pathLst>
            </a:custGeom>
            <a:solidFill>
              <a:srgbClr val="2F2B5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537960" y="4294904"/>
            <a:ext cx="5212080" cy="1432560"/>
            <a:chOff x="0" y="0"/>
            <a:chExt cx="3257550" cy="895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7677" cy="895477"/>
            </a:xfrm>
            <a:custGeom>
              <a:avLst/>
              <a:gdLst/>
              <a:ahLst/>
              <a:cxnLst/>
              <a:rect l="l" t="t" r="r" b="b"/>
              <a:pathLst>
                <a:path w="3257677" h="895477">
                  <a:moveTo>
                    <a:pt x="0" y="872617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604" y="6604"/>
                  </a:cubicBezTo>
                  <a:cubicBezTo>
                    <a:pt x="8636" y="4445"/>
                    <a:pt x="11303" y="2921"/>
                    <a:pt x="14097" y="1778"/>
                  </a:cubicBezTo>
                  <a:cubicBezTo>
                    <a:pt x="16891" y="635"/>
                    <a:pt x="19812" y="0"/>
                    <a:pt x="22733" y="0"/>
                  </a:cubicBezTo>
                  <a:lnTo>
                    <a:pt x="3234817" y="0"/>
                  </a:lnTo>
                  <a:cubicBezTo>
                    <a:pt x="3237865" y="0"/>
                    <a:pt x="3240786" y="508"/>
                    <a:pt x="3243580" y="1778"/>
                  </a:cubicBezTo>
                  <a:cubicBezTo>
                    <a:pt x="3246374" y="3048"/>
                    <a:pt x="3248787" y="4572"/>
                    <a:pt x="3250946" y="6731"/>
                  </a:cubicBezTo>
                  <a:cubicBezTo>
                    <a:pt x="3253105" y="8890"/>
                    <a:pt x="3254756" y="11303"/>
                    <a:pt x="3255899" y="14097"/>
                  </a:cubicBezTo>
                  <a:cubicBezTo>
                    <a:pt x="3257042" y="16891"/>
                    <a:pt x="3257677" y="19812"/>
                    <a:pt x="3257677" y="22860"/>
                  </a:cubicBezTo>
                  <a:lnTo>
                    <a:pt x="3257677" y="872617"/>
                  </a:lnTo>
                  <a:cubicBezTo>
                    <a:pt x="3257677" y="875665"/>
                    <a:pt x="3257042" y="878586"/>
                    <a:pt x="3255899" y="881380"/>
                  </a:cubicBezTo>
                  <a:cubicBezTo>
                    <a:pt x="3254756" y="884174"/>
                    <a:pt x="3253105" y="886587"/>
                    <a:pt x="3250946" y="888746"/>
                  </a:cubicBezTo>
                  <a:cubicBezTo>
                    <a:pt x="3248787" y="890905"/>
                    <a:pt x="3246374" y="892556"/>
                    <a:pt x="3243580" y="893699"/>
                  </a:cubicBezTo>
                  <a:cubicBezTo>
                    <a:pt x="3240786" y="894842"/>
                    <a:pt x="3237865" y="895477"/>
                    <a:pt x="3234817" y="895477"/>
                  </a:cubicBezTo>
                  <a:lnTo>
                    <a:pt x="22733" y="895477"/>
                  </a:lnTo>
                  <a:cubicBezTo>
                    <a:pt x="19685" y="895477"/>
                    <a:pt x="16764" y="894842"/>
                    <a:pt x="13970" y="893699"/>
                  </a:cubicBezTo>
                  <a:cubicBezTo>
                    <a:pt x="11176" y="892556"/>
                    <a:pt x="8763" y="890905"/>
                    <a:pt x="6604" y="888746"/>
                  </a:cubicBezTo>
                  <a:cubicBezTo>
                    <a:pt x="4445" y="886587"/>
                    <a:pt x="2794" y="884174"/>
                    <a:pt x="1651" y="881380"/>
                  </a:cubicBezTo>
                  <a:cubicBezTo>
                    <a:pt x="508" y="878586"/>
                    <a:pt x="0" y="875538"/>
                    <a:pt x="0" y="872617"/>
                  </a:cubicBezTo>
                </a:path>
              </a:pathLst>
            </a:custGeom>
            <a:solidFill>
              <a:srgbClr val="2F2B54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6435364" y="6954894"/>
            <a:ext cx="964326" cy="895076"/>
          </a:xfrm>
          <a:custGeom>
            <a:avLst/>
            <a:gdLst/>
            <a:ahLst/>
            <a:cxnLst/>
            <a:rect l="l" t="t" r="r" b="b"/>
            <a:pathLst>
              <a:path w="964326" h="895076">
                <a:moveTo>
                  <a:pt x="0" y="0"/>
                </a:moveTo>
                <a:lnTo>
                  <a:pt x="964327" y="0"/>
                </a:lnTo>
                <a:lnTo>
                  <a:pt x="964327" y="895075"/>
                </a:lnTo>
                <a:lnTo>
                  <a:pt x="0" y="895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039600" y="4294904"/>
            <a:ext cx="5227320" cy="1432560"/>
            <a:chOff x="0" y="0"/>
            <a:chExt cx="3267075" cy="895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67202" cy="895477"/>
            </a:xfrm>
            <a:custGeom>
              <a:avLst/>
              <a:gdLst/>
              <a:ahLst/>
              <a:cxnLst/>
              <a:rect l="l" t="t" r="r" b="b"/>
              <a:pathLst>
                <a:path w="3267202" h="895477">
                  <a:moveTo>
                    <a:pt x="0" y="872617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921"/>
                    <a:pt x="14097" y="1778"/>
                  </a:cubicBezTo>
                  <a:cubicBezTo>
                    <a:pt x="16891" y="635"/>
                    <a:pt x="19685" y="0"/>
                    <a:pt x="22733" y="0"/>
                  </a:cubicBezTo>
                  <a:lnTo>
                    <a:pt x="3244342" y="0"/>
                  </a:lnTo>
                  <a:cubicBezTo>
                    <a:pt x="3247390" y="0"/>
                    <a:pt x="3250311" y="508"/>
                    <a:pt x="3253105" y="1778"/>
                  </a:cubicBezTo>
                  <a:cubicBezTo>
                    <a:pt x="3255899" y="3048"/>
                    <a:pt x="3258312" y="4572"/>
                    <a:pt x="3260471" y="6731"/>
                  </a:cubicBezTo>
                  <a:cubicBezTo>
                    <a:pt x="3262630" y="8890"/>
                    <a:pt x="3264281" y="11303"/>
                    <a:pt x="3265424" y="14097"/>
                  </a:cubicBezTo>
                  <a:cubicBezTo>
                    <a:pt x="3266567" y="16891"/>
                    <a:pt x="3267202" y="19812"/>
                    <a:pt x="3267202" y="22860"/>
                  </a:cubicBezTo>
                  <a:lnTo>
                    <a:pt x="3267202" y="872617"/>
                  </a:lnTo>
                  <a:cubicBezTo>
                    <a:pt x="3267202" y="875665"/>
                    <a:pt x="3266567" y="878586"/>
                    <a:pt x="3265424" y="881380"/>
                  </a:cubicBezTo>
                  <a:cubicBezTo>
                    <a:pt x="3264281" y="884174"/>
                    <a:pt x="3262630" y="886587"/>
                    <a:pt x="3260471" y="888746"/>
                  </a:cubicBezTo>
                  <a:cubicBezTo>
                    <a:pt x="3258312" y="890905"/>
                    <a:pt x="3255899" y="892556"/>
                    <a:pt x="3253105" y="893699"/>
                  </a:cubicBezTo>
                  <a:cubicBezTo>
                    <a:pt x="3250311" y="894842"/>
                    <a:pt x="3247390" y="895477"/>
                    <a:pt x="3244342" y="895477"/>
                  </a:cubicBezTo>
                  <a:lnTo>
                    <a:pt x="22733" y="895477"/>
                  </a:lnTo>
                  <a:cubicBezTo>
                    <a:pt x="19685" y="895477"/>
                    <a:pt x="16764" y="894842"/>
                    <a:pt x="13970" y="893699"/>
                  </a:cubicBezTo>
                  <a:cubicBezTo>
                    <a:pt x="11176" y="892556"/>
                    <a:pt x="8763" y="890905"/>
                    <a:pt x="6604" y="888746"/>
                  </a:cubicBezTo>
                  <a:cubicBezTo>
                    <a:pt x="4445" y="886587"/>
                    <a:pt x="2794" y="884174"/>
                    <a:pt x="1651" y="881380"/>
                  </a:cubicBezTo>
                  <a:cubicBezTo>
                    <a:pt x="508" y="878586"/>
                    <a:pt x="0" y="875538"/>
                    <a:pt x="0" y="872617"/>
                  </a:cubicBezTo>
                </a:path>
              </a:pathLst>
            </a:custGeom>
            <a:solidFill>
              <a:srgbClr val="2F2B54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2046107" y="6920360"/>
            <a:ext cx="837590" cy="964128"/>
          </a:xfrm>
          <a:custGeom>
            <a:avLst/>
            <a:gdLst/>
            <a:ahLst/>
            <a:cxnLst/>
            <a:rect l="l" t="t" r="r" b="b"/>
            <a:pathLst>
              <a:path w="837590" h="964128">
                <a:moveTo>
                  <a:pt x="0" y="0"/>
                </a:moveTo>
                <a:lnTo>
                  <a:pt x="837591" y="0"/>
                </a:lnTo>
                <a:lnTo>
                  <a:pt x="837591" y="964128"/>
                </a:lnTo>
                <a:lnTo>
                  <a:pt x="0" y="964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595520" y="529441"/>
            <a:ext cx="3407746" cy="734756"/>
          </a:xfrm>
          <a:custGeom>
            <a:avLst/>
            <a:gdLst/>
            <a:ahLst/>
            <a:cxnLst/>
            <a:rect l="l" t="t" r="r" b="b"/>
            <a:pathLst>
              <a:path w="3407746" h="734756">
                <a:moveTo>
                  <a:pt x="0" y="0"/>
                </a:moveTo>
                <a:lnTo>
                  <a:pt x="3407746" y="0"/>
                </a:lnTo>
                <a:lnTo>
                  <a:pt x="3407746" y="734756"/>
                </a:lnTo>
                <a:lnTo>
                  <a:pt x="0" y="734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4412" y="7028243"/>
            <a:ext cx="1133905" cy="748377"/>
          </a:xfrm>
          <a:custGeom>
            <a:avLst/>
            <a:gdLst/>
            <a:ahLst/>
            <a:cxnLst/>
            <a:rect l="l" t="t" r="r" b="b"/>
            <a:pathLst>
              <a:path w="1133905" h="748377">
                <a:moveTo>
                  <a:pt x="0" y="0"/>
                </a:moveTo>
                <a:lnTo>
                  <a:pt x="1133905" y="0"/>
                </a:lnTo>
                <a:lnTo>
                  <a:pt x="1133905" y="748377"/>
                </a:lnTo>
                <a:lnTo>
                  <a:pt x="0" y="7483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257009" y="4555874"/>
            <a:ext cx="401060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Proven government experience in Jamaica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3767" y="5748757"/>
            <a:ext cx="3822632" cy="75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Key Outcomes for NWA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13117" y="6685664"/>
            <a:ext cx="2743688" cy="119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Enhanced citizen </a:t>
            </a:r>
          </a:p>
          <a:p>
            <a:pPr algn="l">
              <a:lnSpc>
                <a:spcPts val="1350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engagement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50480" y="7009514"/>
            <a:ext cx="3438601" cy="87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Improved operational efficiency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29214" y="4555874"/>
            <a:ext cx="4836915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Strong technical expertise and global delivery standards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87843" y="7023159"/>
            <a:ext cx="350542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Secure and scalable digital infrastructure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7740" y="4555874"/>
            <a:ext cx="4662998" cy="873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00">
                <a:solidFill>
                  <a:srgbClr val="D9E1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Fully compliant, scalable, and future-ready 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3767" y="1591694"/>
            <a:ext cx="10992076" cy="2085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1"/>
              </a:lnSpc>
            </a:pPr>
            <a:r>
              <a:rPr lang="en-US" sz="2700">
                <a:solidFill>
                  <a:srgbClr val="FD505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Objective:</a:t>
            </a:r>
            <a:r>
              <a:rPr lang="en-US" sz="27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 Strong finish + scoring impact</a:t>
            </a:r>
          </a:p>
          <a:p>
            <a:pPr algn="l">
              <a:lnSpc>
                <a:spcPts val="7543"/>
              </a:lnSpc>
            </a:pPr>
            <a:r>
              <a:rPr lang="en-US" sz="5400">
                <a:solidFill>
                  <a:srgbClr val="FFFFFF"/>
                </a:solidFill>
                <a:latin typeface="ฟ้อนต์"/>
                <a:ea typeface="ฟ้อนต์"/>
                <a:cs typeface="ฟ้อนต์"/>
                <a:sym typeface="ฟ้อนต์"/>
              </a:rPr>
              <a:t>Closing – Why Kaizen–Sapphire</a:t>
            </a:r>
          </a:p>
          <a:p>
            <a:pPr algn="l">
              <a:lnSpc>
                <a:spcPts val="5736"/>
              </a:lnSpc>
            </a:pP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We offer a </a:t>
            </a: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low-risk, high-value execution model</a:t>
            </a:r>
            <a:r>
              <a:rPr lang="en-US" sz="2294">
                <a:solidFill>
                  <a:srgbClr val="D9E1FF"/>
                </a:solidFill>
                <a:latin typeface="Martel Sans Light"/>
                <a:ea typeface="Martel Sans Light"/>
                <a:cs typeface="Martel Sans Light"/>
                <a:sym typeface="Martel Sans Light"/>
              </a:rPr>
              <a:t>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7325" y="8499453"/>
            <a:ext cx="12531837" cy="4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294" b="1">
                <a:solidFill>
                  <a:srgbClr val="D9E1FF"/>
                </a:solidFill>
                <a:latin typeface="Martel Sans Bold"/>
                <a:ea typeface="Martel Sans Bold"/>
                <a:cs typeface="Martel Sans Bold"/>
                <a:sym typeface="Martel Sans Bold"/>
              </a:rPr>
              <a:t>We are fully aligned with NWA's expectations and ready to deliver immediate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D0C709F410E2479AA36DDE5BC93C93" ma:contentTypeVersion="11" ma:contentTypeDescription="Create a new document." ma:contentTypeScope="" ma:versionID="5c238a5e7e1cd5f55c644a7e0b206fdb">
  <xsd:schema xmlns:xsd="http://www.w3.org/2001/XMLSchema" xmlns:xs="http://www.w3.org/2001/XMLSchema" xmlns:p="http://schemas.microsoft.com/office/2006/metadata/properties" xmlns:ns2="da1ff725-dd3b-4b82-aef0-d478b71e9bfc" xmlns:ns3="1de6609f-8043-48b5-b84e-0b09c52f326c" targetNamespace="http://schemas.microsoft.com/office/2006/metadata/properties" ma:root="true" ma:fieldsID="df95a2bfae9fbc7ede21144fc335aeb4" ns2:_="" ns3:_="">
    <xsd:import namespace="da1ff725-dd3b-4b82-aef0-d478b71e9bfc"/>
    <xsd:import namespace="1de6609f-8043-48b5-b84e-0b09c52f3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ff725-dd3b-4b82-aef0-d478b71e9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eadcca2-be05-4e7e-9ddf-d401a7d758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e6609f-8043-48b5-b84e-0b09c52f326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d148f72-2344-48dd-94e5-808ba2b750c1}" ma:internalName="TaxCatchAll" ma:showField="CatchAllData" ma:web="1de6609f-8043-48b5-b84e-0b09c52f32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1ff725-dd3b-4b82-aef0-d478b71e9bfc">
      <Terms xmlns="http://schemas.microsoft.com/office/infopath/2007/PartnerControls"/>
    </lcf76f155ced4ddcb4097134ff3c332f>
    <TaxCatchAll xmlns="1de6609f-8043-48b5-b84e-0b09c52f326c" xsi:nil="true"/>
  </documentManagement>
</p:properties>
</file>

<file path=customXml/itemProps1.xml><?xml version="1.0" encoding="utf-8"?>
<ds:datastoreItem xmlns:ds="http://schemas.openxmlformats.org/officeDocument/2006/customXml" ds:itemID="{F8E2FA35-FE46-4721-9874-79A85AB38F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0AD494-73C6-47DE-AC36-C37057D660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ff725-dd3b-4b82-aef0-d478b71e9bfc"/>
    <ds:schemaRef ds:uri="1de6609f-8043-48b5-b84e-0b09c52f3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1A21A4-0681-4AB8-9576-BFC46ADF564D}">
  <ds:schemaRefs>
    <ds:schemaRef ds:uri="http://schemas.microsoft.com/office/2006/metadata/properties"/>
    <ds:schemaRef ds:uri="http://schemas.microsoft.com/office/infopath/2007/PartnerControls"/>
    <ds:schemaRef ds:uri="da1ff725-dd3b-4b82-aef0-d478b71e9bfc"/>
    <ds:schemaRef ds:uri="1de6609f-8043-48b5-b84e-0b09c52f326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Objective: Show alignment with TOR Understanding NWA's Vision &amp; Requirements</dc:title>
  <cp:revision>33</cp:revision>
  <dcterms:created xsi:type="dcterms:W3CDTF">2006-08-16T00:00:00Z</dcterms:created>
  <dcterms:modified xsi:type="dcterms:W3CDTF">2026-03-20T14:02:01Z</dcterms:modified>
  <dc:identifier>DAHEe3I8Ssk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0x0101009ED0C709F410E2479AA36DDE5BC93C93</vt:lpwstr>
  </property>
  <property fmtid="{D5CDD505-2E9C-101B-9397-08002B2CF9AE}" pid="3" name="MediaServiceImageTags">
    <vt:lpwstr/>
  </property>
</Properties>
</file>